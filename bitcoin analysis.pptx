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61" r:id="rId2"/>
    <p:sldId id="262" r:id="rId3"/>
    <p:sldId id="263" r:id="rId4"/>
    <p:sldId id="268" r:id="rId5"/>
    <p:sldId id="266" r:id="rId6"/>
    <p:sldId id="269" r:id="rId7"/>
    <p:sldId id="270" r:id="rId8"/>
    <p:sldId id="271" r:id="rId9"/>
    <p:sldId id="272" r:id="rId10"/>
    <p:sldId id="273" r:id="rId11"/>
    <p:sldId id="267" r:id="rId12"/>
    <p:sldId id="274" r:id="rId13"/>
    <p:sldId id="275" r:id="rId14"/>
    <p:sldId id="276" r:id="rId15"/>
    <p:sldId id="277" r:id="rId16"/>
    <p:sldId id="278" r:id="rId17"/>
    <p:sldId id="279" r:id="rId18"/>
    <p:sldId id="280" r:id="rId19"/>
    <p:sldId id="265" r:id="rId20"/>
    <p:sldId id="281"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jOmBtk5DbvnkierGKxpb4ZbKw0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EA8"/>
    <a:srgbClr val="D7B1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4660"/>
  </p:normalViewPr>
  <p:slideViewPr>
    <p:cSldViewPr snapToGrid="0">
      <p:cViewPr varScale="1">
        <p:scale>
          <a:sx n="88" d="100"/>
          <a:sy n="88" d="100"/>
        </p:scale>
        <p:origin x="44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a:extLst>
            <a:ext uri="{FF2B5EF4-FFF2-40B4-BE49-F238E27FC236}">
              <a16:creationId xmlns:a16="http://schemas.microsoft.com/office/drawing/2014/main" id="{92771A63-867C-3E22-1294-B8F578B66FD9}"/>
            </a:ext>
          </a:extLst>
        </p:cNvPr>
        <p:cNvGrpSpPr/>
        <p:nvPr/>
      </p:nvGrpSpPr>
      <p:grpSpPr>
        <a:xfrm>
          <a:off x="0" y="0"/>
          <a:ext cx="0" cy="0"/>
          <a:chOff x="0" y="0"/>
          <a:chExt cx="0" cy="0"/>
        </a:xfrm>
      </p:grpSpPr>
      <p:sp>
        <p:nvSpPr>
          <p:cNvPr id="177" name="Google Shape;177;p8:notes">
            <a:extLst>
              <a:ext uri="{FF2B5EF4-FFF2-40B4-BE49-F238E27FC236}">
                <a16:creationId xmlns:a16="http://schemas.microsoft.com/office/drawing/2014/main" id="{963483E8-3114-1130-CC93-7D2F4BD02F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8:notes">
            <a:extLst>
              <a:ext uri="{FF2B5EF4-FFF2-40B4-BE49-F238E27FC236}">
                <a16:creationId xmlns:a16="http://schemas.microsoft.com/office/drawing/2014/main" id="{2C789933-205C-644F-A17C-7EB9A27433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211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F5CA961A-5D6C-4B32-BADE-81E649564614}"/>
            </a:ext>
          </a:extLst>
        </p:cNvPr>
        <p:cNvGrpSpPr/>
        <p:nvPr/>
      </p:nvGrpSpPr>
      <p:grpSpPr>
        <a:xfrm>
          <a:off x="0" y="0"/>
          <a:ext cx="0" cy="0"/>
          <a:chOff x="0" y="0"/>
          <a:chExt cx="0" cy="0"/>
        </a:xfrm>
      </p:grpSpPr>
      <p:sp>
        <p:nvSpPr>
          <p:cNvPr id="211" name="Google Shape;211;p11:notes">
            <a:extLst>
              <a:ext uri="{FF2B5EF4-FFF2-40B4-BE49-F238E27FC236}">
                <a16:creationId xmlns:a16="http://schemas.microsoft.com/office/drawing/2014/main" id="{7B313DB9-AF6C-0577-FF5F-AD01F4EC3FD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1:notes">
            <a:extLst>
              <a:ext uri="{FF2B5EF4-FFF2-40B4-BE49-F238E27FC236}">
                <a16:creationId xmlns:a16="http://schemas.microsoft.com/office/drawing/2014/main" id="{3890308B-BDB0-2D4B-1C17-D2C8477D52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4900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55FD0F03-468C-3DB3-1149-3A1118CFBB76}"/>
            </a:ext>
          </a:extLst>
        </p:cNvPr>
        <p:cNvGrpSpPr/>
        <p:nvPr/>
      </p:nvGrpSpPr>
      <p:grpSpPr>
        <a:xfrm>
          <a:off x="0" y="0"/>
          <a:ext cx="0" cy="0"/>
          <a:chOff x="0" y="0"/>
          <a:chExt cx="0" cy="0"/>
        </a:xfrm>
      </p:grpSpPr>
      <p:sp>
        <p:nvSpPr>
          <p:cNvPr id="211" name="Google Shape;211;p11:notes">
            <a:extLst>
              <a:ext uri="{FF2B5EF4-FFF2-40B4-BE49-F238E27FC236}">
                <a16:creationId xmlns:a16="http://schemas.microsoft.com/office/drawing/2014/main" id="{C7057C2D-2D65-020D-5467-E0B606BB82D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1:notes">
            <a:extLst>
              <a:ext uri="{FF2B5EF4-FFF2-40B4-BE49-F238E27FC236}">
                <a16:creationId xmlns:a16="http://schemas.microsoft.com/office/drawing/2014/main" id="{224D2EA7-F236-F409-5213-A012795F7F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5490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2625CE7F-F7E2-921A-FC69-CDE0D4022E17}"/>
            </a:ext>
          </a:extLst>
        </p:cNvPr>
        <p:cNvGrpSpPr/>
        <p:nvPr/>
      </p:nvGrpSpPr>
      <p:grpSpPr>
        <a:xfrm>
          <a:off x="0" y="0"/>
          <a:ext cx="0" cy="0"/>
          <a:chOff x="0" y="0"/>
          <a:chExt cx="0" cy="0"/>
        </a:xfrm>
      </p:grpSpPr>
      <p:sp>
        <p:nvSpPr>
          <p:cNvPr id="211" name="Google Shape;211;p11:notes">
            <a:extLst>
              <a:ext uri="{FF2B5EF4-FFF2-40B4-BE49-F238E27FC236}">
                <a16:creationId xmlns:a16="http://schemas.microsoft.com/office/drawing/2014/main" id="{3FF65CD5-0A78-EFD2-87A0-E35CEA2ADDA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1:notes">
            <a:extLst>
              <a:ext uri="{FF2B5EF4-FFF2-40B4-BE49-F238E27FC236}">
                <a16:creationId xmlns:a16="http://schemas.microsoft.com/office/drawing/2014/main" id="{AD421365-9A01-7B5F-0748-4977FD4A61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6690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627F6CAD-AAE2-2813-074E-94215293D386}"/>
            </a:ext>
          </a:extLst>
        </p:cNvPr>
        <p:cNvGrpSpPr/>
        <p:nvPr/>
      </p:nvGrpSpPr>
      <p:grpSpPr>
        <a:xfrm>
          <a:off x="0" y="0"/>
          <a:ext cx="0" cy="0"/>
          <a:chOff x="0" y="0"/>
          <a:chExt cx="0" cy="0"/>
        </a:xfrm>
      </p:grpSpPr>
      <p:sp>
        <p:nvSpPr>
          <p:cNvPr id="211" name="Google Shape;211;p11:notes">
            <a:extLst>
              <a:ext uri="{FF2B5EF4-FFF2-40B4-BE49-F238E27FC236}">
                <a16:creationId xmlns:a16="http://schemas.microsoft.com/office/drawing/2014/main" id="{2FCC2F16-13E7-646E-6DD6-389D965C388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1:notes">
            <a:extLst>
              <a:ext uri="{FF2B5EF4-FFF2-40B4-BE49-F238E27FC236}">
                <a16:creationId xmlns:a16="http://schemas.microsoft.com/office/drawing/2014/main" id="{E8C8C91C-9AC2-2F99-F948-CE29A28114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8348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F6F7E976-2E91-2494-948B-DC0F3944A52B}"/>
            </a:ext>
          </a:extLst>
        </p:cNvPr>
        <p:cNvGrpSpPr/>
        <p:nvPr/>
      </p:nvGrpSpPr>
      <p:grpSpPr>
        <a:xfrm>
          <a:off x="0" y="0"/>
          <a:ext cx="0" cy="0"/>
          <a:chOff x="0" y="0"/>
          <a:chExt cx="0" cy="0"/>
        </a:xfrm>
      </p:grpSpPr>
      <p:sp>
        <p:nvSpPr>
          <p:cNvPr id="211" name="Google Shape;211;p11:notes">
            <a:extLst>
              <a:ext uri="{FF2B5EF4-FFF2-40B4-BE49-F238E27FC236}">
                <a16:creationId xmlns:a16="http://schemas.microsoft.com/office/drawing/2014/main" id="{8B984DBF-4755-2886-5481-A5AFEB09F0E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1:notes">
            <a:extLst>
              <a:ext uri="{FF2B5EF4-FFF2-40B4-BE49-F238E27FC236}">
                <a16:creationId xmlns:a16="http://schemas.microsoft.com/office/drawing/2014/main" id="{25340C31-78D7-4490-9280-3C70802E10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5628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228F7F62-D4FF-E3DC-A042-D09410B6F9FC}"/>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707E98B6-26BE-53E4-E512-EB15B37A20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a:extLst>
              <a:ext uri="{FF2B5EF4-FFF2-40B4-BE49-F238E27FC236}">
                <a16:creationId xmlns:a16="http://schemas.microsoft.com/office/drawing/2014/main" id="{871EE5CA-DF3A-3013-140F-C64690F644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4838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9C01ED71-02AC-B31C-38A3-7296CD142A45}"/>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8A034361-0AD6-84EE-9317-2161DDEAEB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a:extLst>
              <a:ext uri="{FF2B5EF4-FFF2-40B4-BE49-F238E27FC236}">
                <a16:creationId xmlns:a16="http://schemas.microsoft.com/office/drawing/2014/main" id="{02DC0932-D25A-CA32-A9F1-C223F15E58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71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0F65B62C-6FE8-B099-CD2B-083BDDB39C9F}"/>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C3CAE426-15FF-3529-F912-CF9894F6769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a:extLst>
              <a:ext uri="{FF2B5EF4-FFF2-40B4-BE49-F238E27FC236}">
                <a16:creationId xmlns:a16="http://schemas.microsoft.com/office/drawing/2014/main" id="{D117D820-8D30-B846-2909-0AB1566AC5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2289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B08A662B-D97F-6AE6-B200-9C2187C92334}"/>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6759075A-276A-5B48-4599-559C27F1D1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a:extLst>
              <a:ext uri="{FF2B5EF4-FFF2-40B4-BE49-F238E27FC236}">
                <a16:creationId xmlns:a16="http://schemas.microsoft.com/office/drawing/2014/main" id="{96BE950D-3D38-7BA0-A29C-D38937F9ED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7727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16E4793C-6BC2-B6BC-35C6-8E3A3D02E097}"/>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447625C4-D828-426D-CEFC-A00A520AF9B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a:extLst>
              <a:ext uri="{FF2B5EF4-FFF2-40B4-BE49-F238E27FC236}">
                <a16:creationId xmlns:a16="http://schemas.microsoft.com/office/drawing/2014/main" id="{0B068624-F0C4-FD70-A9D5-0644942411A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4515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B5F7A905-C994-C32F-0FC7-D8AD54B78835}"/>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B34CF289-CAD4-F773-FC1D-DA60DBE4E84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a:extLst>
              <a:ext uri="{FF2B5EF4-FFF2-40B4-BE49-F238E27FC236}">
                <a16:creationId xmlns:a16="http://schemas.microsoft.com/office/drawing/2014/main" id="{97C7AB5A-30DF-8E61-E27B-58268C5DBE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3723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B3C284BE-38FF-8256-293D-8CF8496CB84F}"/>
            </a:ext>
          </a:extLst>
        </p:cNvPr>
        <p:cNvGrpSpPr/>
        <p:nvPr/>
      </p:nvGrpSpPr>
      <p:grpSpPr>
        <a:xfrm>
          <a:off x="0" y="0"/>
          <a:ext cx="0" cy="0"/>
          <a:chOff x="0" y="0"/>
          <a:chExt cx="0" cy="0"/>
        </a:xfrm>
      </p:grpSpPr>
      <p:sp>
        <p:nvSpPr>
          <p:cNvPr id="220" name="Google Shape;220;p12:notes">
            <a:extLst>
              <a:ext uri="{FF2B5EF4-FFF2-40B4-BE49-F238E27FC236}">
                <a16:creationId xmlns:a16="http://schemas.microsoft.com/office/drawing/2014/main" id="{115C835D-A729-07F2-ABAD-C4B7747565E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a:extLst>
              <a:ext uri="{FF2B5EF4-FFF2-40B4-BE49-F238E27FC236}">
                <a16:creationId xmlns:a16="http://schemas.microsoft.com/office/drawing/2014/main" id="{573B1245-AA39-DAD4-A5E7-C3552B44FC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2265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9" name="Google Shape;1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7895D2C3-F2CF-BF27-16F0-452933D2564F}"/>
            </a:ext>
          </a:extLst>
        </p:cNvPr>
        <p:cNvGrpSpPr/>
        <p:nvPr/>
      </p:nvGrpSpPr>
      <p:grpSpPr>
        <a:xfrm>
          <a:off x="0" y="0"/>
          <a:ext cx="0" cy="0"/>
          <a:chOff x="0" y="0"/>
          <a:chExt cx="0" cy="0"/>
        </a:xfrm>
      </p:grpSpPr>
      <p:sp>
        <p:nvSpPr>
          <p:cNvPr id="157" name="Google Shape;157;p6:notes">
            <a:extLst>
              <a:ext uri="{FF2B5EF4-FFF2-40B4-BE49-F238E27FC236}">
                <a16:creationId xmlns:a16="http://schemas.microsoft.com/office/drawing/2014/main" id="{541D28FE-AEB7-C296-0ACD-73F4C59FD91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6:notes">
            <a:extLst>
              <a:ext uri="{FF2B5EF4-FFF2-40B4-BE49-F238E27FC236}">
                <a16:creationId xmlns:a16="http://schemas.microsoft.com/office/drawing/2014/main" id="{ED504A6E-2DA7-6B9A-50D5-9CE1F329A9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2206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40" name="Google Shape;40;p17"/>
          <p:cNvPicPr preferRelativeResize="0"/>
          <p:nvPr/>
        </p:nvPicPr>
        <p:blipFill rotWithShape="1">
          <a:blip r:embed="rId2">
            <a:alphaModFix/>
          </a:blip>
          <a:srcRect/>
          <a:stretch/>
        </p:blipFill>
        <p:spPr>
          <a:xfrm>
            <a:off x="10711512" y="330213"/>
            <a:ext cx="1284576" cy="637759"/>
          </a:xfrm>
          <a:prstGeom prst="rect">
            <a:avLst/>
          </a:prstGeom>
          <a:noFill/>
          <a:ln>
            <a:noFill/>
          </a:ln>
        </p:spPr>
      </p:pic>
      <p:pic>
        <p:nvPicPr>
          <p:cNvPr id="41" name="Google Shape;41;p17"/>
          <p:cNvPicPr preferRelativeResize="0"/>
          <p:nvPr/>
        </p:nvPicPr>
        <p:blipFill rotWithShape="1">
          <a:blip r:embed="rId3">
            <a:alphaModFix/>
          </a:blip>
          <a:srcRect/>
          <a:stretch/>
        </p:blipFill>
        <p:spPr>
          <a:xfrm>
            <a:off x="93317" y="0"/>
            <a:ext cx="1489765" cy="1386637"/>
          </a:xfrm>
          <a:prstGeom prst="rect">
            <a:avLst/>
          </a:prstGeom>
          <a:noFill/>
          <a:ln>
            <a:noFill/>
          </a:ln>
        </p:spPr>
      </p:pic>
      <p:sp>
        <p:nvSpPr>
          <p:cNvPr id="42" name="Google Shape;4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4">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5">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6">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2.jp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2.jp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dirty="0">
                <a:solidFill>
                  <a:srgbClr val="D7B119"/>
                </a:solidFill>
              </a:rPr>
              <a:t>Bitcoin Market Analysis</a:t>
            </a:r>
            <a:endParaRPr dirty="0">
              <a:solidFill>
                <a:srgbClr val="D7B119"/>
              </a:solidFill>
            </a:endParaRPr>
          </a:p>
        </p:txBody>
      </p:sp>
      <p:sp>
        <p:nvSpPr>
          <p:cNvPr id="161" name="Google Shape;161;p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chemeClr val="dk1"/>
              </a:buClr>
              <a:buSzPts val="2400"/>
              <a:buNone/>
            </a:pPr>
            <a:r>
              <a:rPr lang="en-US" dirty="0"/>
              <a:t>Data Analytics Project</a:t>
            </a:r>
          </a:p>
          <a:p>
            <a:pPr marL="0" lvl="0" indent="0" algn="ctr" rtl="0">
              <a:lnSpc>
                <a:spcPct val="90000"/>
              </a:lnSpc>
              <a:spcBef>
                <a:spcPts val="0"/>
              </a:spcBef>
              <a:spcAft>
                <a:spcPts val="0"/>
              </a:spcAft>
              <a:buClr>
                <a:schemeClr val="dk1"/>
              </a:buClr>
              <a:buSzPts val="2400"/>
              <a:buNone/>
            </a:pPr>
            <a:r>
              <a:rPr lang="en-US" dirty="0"/>
              <a:t>Presented by : </a:t>
            </a:r>
            <a:r>
              <a:rPr lang="en-US" dirty="0">
                <a:solidFill>
                  <a:srgbClr val="336EA8"/>
                </a:solidFill>
              </a:rPr>
              <a:t>Yasmeen Abdelhamid- Rewaa Mostafa – Samira Samir – Sama Mohamed</a:t>
            </a:r>
          </a:p>
          <a:p>
            <a:pPr marL="0" lvl="0" indent="0" algn="ctr" rtl="0">
              <a:lnSpc>
                <a:spcPct val="90000"/>
              </a:lnSpc>
              <a:spcBef>
                <a:spcPts val="0"/>
              </a:spcBef>
              <a:spcAft>
                <a:spcPts val="0"/>
              </a:spcAft>
              <a:buClr>
                <a:schemeClr val="dk1"/>
              </a:buClr>
              <a:buSzPts val="2400"/>
              <a:buNone/>
            </a:pPr>
            <a:r>
              <a:rPr lang="en-US" dirty="0"/>
              <a:t>Date :</a:t>
            </a:r>
          </a:p>
          <a:p>
            <a:pPr marL="0" lvl="0" indent="0" algn="ctr" rtl="0">
              <a:lnSpc>
                <a:spcPct val="90000"/>
              </a:lnSpc>
              <a:spcBef>
                <a:spcPts val="0"/>
              </a:spcBef>
              <a:spcAft>
                <a:spcPts val="0"/>
              </a:spcAft>
              <a:buClr>
                <a:schemeClr val="dk1"/>
              </a:buClr>
              <a:buSzPts val="2400"/>
              <a:buNone/>
            </a:pPr>
            <a:r>
              <a:rPr lang="en-US" dirty="0"/>
              <a:t>Supervised by : </a:t>
            </a:r>
            <a:r>
              <a:rPr lang="en-US" dirty="0">
                <a:solidFill>
                  <a:srgbClr val="336EA8"/>
                </a:solidFill>
              </a:rPr>
              <a:t>Eng. Mohamed </a:t>
            </a:r>
            <a:r>
              <a:rPr lang="en-US" dirty="0" err="1">
                <a:solidFill>
                  <a:srgbClr val="336EA8"/>
                </a:solidFill>
              </a:rPr>
              <a:t>AlEmam</a:t>
            </a:r>
            <a:endParaRPr dirty="0">
              <a:solidFill>
                <a:srgbClr val="336EA8"/>
              </a:solidFill>
            </a:endParaRPr>
          </a:p>
        </p:txBody>
      </p:sp>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163" name="Google Shape;163;p6"/>
          <p:cNvSpPr txBox="1">
            <a:spLocks noGrp="1"/>
          </p:cNvSpPr>
          <p:nvPr>
            <p:ph type="ftr" idx="11"/>
          </p:nvPr>
        </p:nvSpPr>
        <p:spPr>
          <a:xfrm flipV="1">
            <a:off x="4014651" y="7262948"/>
            <a:ext cx="348343" cy="51380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a:t>
            </a:r>
            <a:endParaRPr dirty="0"/>
          </a:p>
        </p:txBody>
      </p:sp>
      <p:pic>
        <p:nvPicPr>
          <p:cNvPr id="2" name="Google Shape;110;p1">
            <a:extLst>
              <a:ext uri="{FF2B5EF4-FFF2-40B4-BE49-F238E27FC236}">
                <a16:creationId xmlns:a16="http://schemas.microsoft.com/office/drawing/2014/main" id="{D76960BE-DA68-AD54-037E-4185C12CA702}"/>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3" name="Picture 2">
            <a:extLst>
              <a:ext uri="{FF2B5EF4-FFF2-40B4-BE49-F238E27FC236}">
                <a16:creationId xmlns:a16="http://schemas.microsoft.com/office/drawing/2014/main" id="{19A952F7-3AD2-D732-D1AB-66BCA083C172}"/>
              </a:ext>
            </a:extLst>
          </p:cNvPr>
          <p:cNvPicPr>
            <a:picLocks noChangeAspect="1"/>
          </p:cNvPicPr>
          <p:nvPr/>
        </p:nvPicPr>
        <p:blipFill>
          <a:blip r:embed="rId3"/>
          <a:stretch>
            <a:fillRect/>
          </a:stretch>
        </p:blipFill>
        <p:spPr>
          <a:xfrm>
            <a:off x="936152" y="1123969"/>
            <a:ext cx="426757" cy="426757"/>
          </a:xfrm>
          <a:prstGeom prst="rect">
            <a:avLst/>
          </a:prstGeom>
        </p:spPr>
      </p:pic>
      <p:sp>
        <p:nvSpPr>
          <p:cNvPr id="170" name="Google Shape;170;p7"/>
          <p:cNvSpPr txBox="1">
            <a:spLocks noGrp="1"/>
          </p:cNvSpPr>
          <p:nvPr>
            <p:ph type="title"/>
          </p:nvPr>
        </p:nvSpPr>
        <p:spPr>
          <a:xfrm>
            <a:off x="1149531" y="1793966"/>
            <a:ext cx="6148252" cy="3896541"/>
          </a:xfrm>
          <a:prstGeom prst="rect">
            <a:avLst/>
          </a:prstGeom>
          <a:noFill/>
          <a:ln>
            <a:noFill/>
          </a:ln>
        </p:spPr>
        <p:txBody>
          <a:bodyPr spcFirstLastPara="1" wrap="square" lIns="91425" tIns="45700" rIns="91425" bIns="45700" anchor="ctr" anchorCtr="0">
            <a:normAutofit fontScale="90000"/>
          </a:bodyPr>
          <a:lstStyle/>
          <a:p>
            <a:pPr lvl="0" algn="l" rtl="0">
              <a:lnSpc>
                <a:spcPct val="90000"/>
              </a:lnSpc>
              <a:spcBef>
                <a:spcPts val="0"/>
              </a:spcBef>
              <a:spcAft>
                <a:spcPts val="0"/>
              </a:spcAft>
              <a:buClr>
                <a:schemeClr val="dk1"/>
              </a:buClr>
              <a:buSzPts val="4400"/>
            </a:pPr>
            <a:r>
              <a:rPr lang="en-US" sz="2000" dirty="0"/>
              <a:t>   </a:t>
            </a:r>
            <a:r>
              <a:rPr lang="en-US" sz="2000" dirty="0">
                <a:solidFill>
                  <a:srgbClr val="D7B119"/>
                </a:solidFill>
              </a:rPr>
              <a:t>Problem</a:t>
            </a:r>
            <a:br>
              <a:rPr lang="en-US" sz="2000" dirty="0"/>
            </a:br>
            <a:r>
              <a:rPr lang="en-US" sz="2000" dirty="0"/>
              <a:t>●Bitcoin generates massive trading data every minute.</a:t>
            </a:r>
            <a:br>
              <a:rPr lang="en-US" sz="2000" dirty="0"/>
            </a:br>
            <a:r>
              <a:rPr lang="en-US" sz="2000" dirty="0"/>
              <a:t>●Raw market data is difficult to analyze manually.</a:t>
            </a:r>
            <a:br>
              <a:rPr lang="en-US" sz="2000" dirty="0"/>
            </a:br>
            <a:r>
              <a:rPr lang="en-US" sz="2000" dirty="0"/>
              <a:t>●Investors need clear insights to understand market behavior.</a:t>
            </a:r>
            <a:br>
              <a:rPr lang="en-US" sz="2000" dirty="0"/>
            </a:br>
            <a:r>
              <a:rPr lang="en-US" sz="2000" dirty="0"/>
              <a:t>●Predicting future price movement remains a challenging task.</a:t>
            </a:r>
            <a:br>
              <a:rPr lang="en-US" sz="2000" dirty="0"/>
            </a:br>
            <a:r>
              <a:rPr lang="en-US" sz="2000" dirty="0"/>
              <a:t>   </a:t>
            </a:r>
            <a:r>
              <a:rPr lang="en-US" sz="2000" dirty="0">
                <a:solidFill>
                  <a:srgbClr val="D7B119"/>
                </a:solidFill>
              </a:rPr>
              <a:t>Solution</a:t>
            </a:r>
            <a:br>
              <a:rPr lang="en-US" sz="2000" dirty="0"/>
            </a:br>
            <a:r>
              <a:rPr lang="en-US" sz="2000" dirty="0"/>
              <a:t>●Build a complete Data Engineering pipeline.</a:t>
            </a:r>
            <a:br>
              <a:rPr lang="en-US" sz="2000" dirty="0"/>
            </a:br>
            <a:r>
              <a:rPr lang="en-US" sz="2000" dirty="0"/>
              <a:t>●Apply Medallion Architecture (Bronze, Silver, Gold).</a:t>
            </a:r>
            <a:br>
              <a:rPr lang="en-US" sz="2000" dirty="0"/>
            </a:br>
            <a:r>
              <a:rPr lang="en-US" sz="2000" dirty="0"/>
              <a:t>●Create a Data Warehouse using Star Schema.</a:t>
            </a:r>
            <a:br>
              <a:rPr lang="en-US" sz="2000" dirty="0"/>
            </a:br>
            <a:r>
              <a:rPr lang="en-US" sz="2000" dirty="0"/>
              <a:t>●Develop interactive Power BI dashboards.</a:t>
            </a:r>
            <a:br>
              <a:rPr lang="en-US" sz="2000" dirty="0"/>
            </a:br>
            <a:r>
              <a:rPr lang="en-US" sz="2000" dirty="0"/>
              <a:t>●Build a Machine Learning model to predict future market direction.</a:t>
            </a:r>
            <a:br>
              <a:rPr lang="en-US" sz="2000" dirty="0"/>
            </a:br>
            <a:r>
              <a:rPr lang="en-US" sz="2000" dirty="0"/>
              <a:t>   </a:t>
            </a:r>
            <a:r>
              <a:rPr lang="en-US" sz="2000" dirty="0">
                <a:solidFill>
                  <a:srgbClr val="D7B119"/>
                </a:solidFill>
              </a:rPr>
              <a:t>Unique Value</a:t>
            </a:r>
            <a:br>
              <a:rPr lang="en-US" sz="2000" dirty="0"/>
            </a:br>
            <a:r>
              <a:rPr lang="en-US" sz="2000" dirty="0"/>
              <a:t>●End-to-end analytical pipeline.</a:t>
            </a:r>
            <a:br>
              <a:rPr lang="en-US" sz="2000" dirty="0"/>
            </a:br>
            <a:r>
              <a:rPr lang="en-US" sz="2000" dirty="0"/>
              <a:t>●Engineered financial indicators.</a:t>
            </a:r>
            <a:br>
              <a:rPr lang="en-US" sz="2000" dirty="0"/>
            </a:br>
            <a:r>
              <a:rPr lang="en-US" sz="2000" dirty="0"/>
              <a:t>●Interactive dashboards.</a:t>
            </a:r>
            <a:br>
              <a:rPr lang="en-US" sz="2000" dirty="0"/>
            </a:br>
            <a:r>
              <a:rPr lang="en-US" sz="2000" dirty="0"/>
              <a:t>●Machine Learning prediction.</a:t>
            </a:r>
            <a:br>
              <a:rPr lang="en-US" sz="2000" dirty="0"/>
            </a:br>
            <a:r>
              <a:rPr lang="en-US" sz="2000" dirty="0"/>
              <a:t>●Decision support for Bitcoin market analysis.</a:t>
            </a:r>
            <a:br>
              <a:rPr lang="en-US" sz="2000" dirty="0"/>
            </a:br>
            <a:br>
              <a:rPr lang="en-US" sz="2000" dirty="0"/>
            </a:br>
            <a:br>
              <a:rPr lang="en-US" sz="2000" dirty="0"/>
            </a:br>
            <a:endParaRPr sz="2000" dirty="0"/>
          </a:p>
        </p:txBody>
      </p:sp>
      <p:sp>
        <p:nvSpPr>
          <p:cNvPr id="171" name="Google Shape;17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172" name="Google Shape;172;p7"/>
          <p:cNvSpPr txBox="1">
            <a:spLocks noGrp="1"/>
          </p:cNvSpPr>
          <p:nvPr>
            <p:ph type="ftr" idx="11"/>
          </p:nvPr>
        </p:nvSpPr>
        <p:spPr>
          <a:xfrm>
            <a:off x="3880338" y="7201988"/>
            <a:ext cx="1405765" cy="322217"/>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73" name="Google Shape;17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2</a:t>
            </a:r>
            <a:endParaRPr dirty="0"/>
          </a:p>
        </p:txBody>
      </p:sp>
      <p:pic>
        <p:nvPicPr>
          <p:cNvPr id="2" name="Google Shape;110;p1">
            <a:extLst>
              <a:ext uri="{FF2B5EF4-FFF2-40B4-BE49-F238E27FC236}">
                <a16:creationId xmlns:a16="http://schemas.microsoft.com/office/drawing/2014/main" id="{203067B1-3EC8-45DB-2361-DD07914C4FB8}"/>
              </a:ext>
            </a:extLst>
          </p:cNvPr>
          <p:cNvPicPr preferRelativeResize="0"/>
          <p:nvPr/>
        </p:nvPicPr>
        <p:blipFill>
          <a:blip r:embed="rId4"/>
          <a:srcRect/>
          <a:stretch/>
        </p:blipFill>
        <p:spPr>
          <a:xfrm>
            <a:off x="9010943" y="6291124"/>
            <a:ext cx="1362250" cy="365125"/>
          </a:xfrm>
          <a:prstGeom prst="rect">
            <a:avLst/>
          </a:prstGeom>
          <a:noFill/>
          <a:ln>
            <a:noFill/>
          </a:ln>
        </p:spPr>
      </p:pic>
      <p:pic>
        <p:nvPicPr>
          <p:cNvPr id="4" name="Picture 3">
            <a:extLst>
              <a:ext uri="{FF2B5EF4-FFF2-40B4-BE49-F238E27FC236}">
                <a16:creationId xmlns:a16="http://schemas.microsoft.com/office/drawing/2014/main" id="{2780225C-D123-C6FE-807A-041CF18E0AC7}"/>
              </a:ext>
            </a:extLst>
          </p:cNvPr>
          <p:cNvPicPr>
            <a:picLocks noChangeAspect="1"/>
          </p:cNvPicPr>
          <p:nvPr/>
        </p:nvPicPr>
        <p:blipFill>
          <a:blip r:embed="rId5"/>
          <a:stretch>
            <a:fillRect/>
          </a:stretch>
        </p:blipFill>
        <p:spPr>
          <a:xfrm>
            <a:off x="906341" y="2451770"/>
            <a:ext cx="536494" cy="414564"/>
          </a:xfrm>
          <a:prstGeom prst="rect">
            <a:avLst/>
          </a:prstGeom>
        </p:spPr>
      </p:pic>
      <p:pic>
        <p:nvPicPr>
          <p:cNvPr id="5" name="Picture 4">
            <a:extLst>
              <a:ext uri="{FF2B5EF4-FFF2-40B4-BE49-F238E27FC236}">
                <a16:creationId xmlns:a16="http://schemas.microsoft.com/office/drawing/2014/main" id="{A1697B9D-0834-D9A0-BFA9-5525D9CB34D8}"/>
              </a:ext>
            </a:extLst>
          </p:cNvPr>
          <p:cNvPicPr>
            <a:picLocks noChangeAspect="1"/>
          </p:cNvPicPr>
          <p:nvPr/>
        </p:nvPicPr>
        <p:blipFill>
          <a:blip r:embed="rId6"/>
          <a:stretch>
            <a:fillRect/>
          </a:stretch>
        </p:blipFill>
        <p:spPr>
          <a:xfrm>
            <a:off x="741063" y="3843402"/>
            <a:ext cx="621846" cy="591363"/>
          </a:xfrm>
          <a:prstGeom prst="rect">
            <a:avLst/>
          </a:prstGeom>
        </p:spPr>
      </p:pic>
      <p:pic>
        <p:nvPicPr>
          <p:cNvPr id="9" name="Picture 8">
            <a:extLst>
              <a:ext uri="{FF2B5EF4-FFF2-40B4-BE49-F238E27FC236}">
                <a16:creationId xmlns:a16="http://schemas.microsoft.com/office/drawing/2014/main" id="{DB72D540-B239-FC80-3E1E-15EC5428441C}"/>
              </a:ext>
            </a:extLst>
          </p:cNvPr>
          <p:cNvPicPr>
            <a:picLocks noChangeAspect="1"/>
          </p:cNvPicPr>
          <p:nvPr/>
        </p:nvPicPr>
        <p:blipFill>
          <a:blip r:embed="rId7"/>
          <a:stretch>
            <a:fillRect/>
          </a:stretch>
        </p:blipFill>
        <p:spPr>
          <a:xfrm>
            <a:off x="7706251" y="1550727"/>
            <a:ext cx="3725276" cy="3596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1071154" y="1828800"/>
            <a:ext cx="7228115" cy="390525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sz="2000" b="1" dirty="0">
                <a:solidFill>
                  <a:srgbClr val="336EA8"/>
                </a:solidFill>
              </a:rPr>
              <a:t>Dashboard Overview</a:t>
            </a:r>
            <a:br>
              <a:rPr lang="en-US" sz="2000" dirty="0"/>
            </a:br>
            <a:r>
              <a:rPr lang="en-US" sz="2000" dirty="0"/>
              <a:t>Project Wireframe — Power BI Dashboard</a:t>
            </a:r>
            <a:br>
              <a:rPr lang="en-US" sz="2000" dirty="0"/>
            </a:br>
            <a:r>
              <a:rPr lang="en-US" sz="2000" dirty="0">
                <a:solidFill>
                  <a:srgbClr val="D7B119"/>
                </a:solidFill>
              </a:rPr>
              <a:t>01 Market Overview</a:t>
            </a:r>
            <a:br>
              <a:rPr lang="en-US" sz="2000" dirty="0"/>
            </a:br>
            <a:r>
              <a:rPr lang="en-US" sz="2000" dirty="0"/>
              <a:t>High-level Bitcoin market summary</a:t>
            </a:r>
            <a:br>
              <a:rPr lang="en-US" sz="2000" dirty="0"/>
            </a:br>
            <a:r>
              <a:rPr lang="en-US" sz="2000" dirty="0"/>
              <a:t>●Price Overview</a:t>
            </a:r>
            <a:br>
              <a:rPr lang="en-US" sz="2000" dirty="0"/>
            </a:br>
            <a:r>
              <a:rPr lang="en-US" sz="2000" dirty="0"/>
              <a:t>●Volume Spikes</a:t>
            </a:r>
            <a:br>
              <a:rPr lang="en-US" sz="2000" dirty="0"/>
            </a:br>
            <a:r>
              <a:rPr lang="en-US" sz="2000" dirty="0"/>
              <a:t>●Volatility Range</a:t>
            </a:r>
            <a:br>
              <a:rPr lang="en-US" sz="2000" dirty="0"/>
            </a:br>
            <a:r>
              <a:rPr lang="en-US" sz="2000" dirty="0"/>
              <a:t>●Capital Flow</a:t>
            </a:r>
            <a:br>
              <a:rPr lang="en-US" sz="2000" dirty="0">
                <a:solidFill>
                  <a:srgbClr val="D7B119"/>
                </a:solidFill>
              </a:rPr>
            </a:br>
            <a:r>
              <a:rPr lang="en-US" sz="2000" dirty="0">
                <a:solidFill>
                  <a:srgbClr val="D7B119"/>
                </a:solidFill>
              </a:rPr>
              <a:t>02 Buyer VS Seller Pressure</a:t>
            </a:r>
            <a:br>
              <a:rPr lang="en-US" sz="2000" dirty="0"/>
            </a:br>
            <a:r>
              <a:rPr lang="en-US" sz="2000" dirty="0"/>
              <a:t>●Buy VS Sell pressure</a:t>
            </a:r>
            <a:br>
              <a:rPr lang="en-US" sz="2000" dirty="0"/>
            </a:br>
            <a:r>
              <a:rPr lang="en-US" sz="2000" dirty="0"/>
              <a:t>●Net Order Flow</a:t>
            </a:r>
            <a:br>
              <a:rPr lang="en-US" sz="2000" dirty="0"/>
            </a:br>
            <a:r>
              <a:rPr lang="en-US" sz="2000" dirty="0"/>
              <a:t>●Overheating Watch</a:t>
            </a:r>
            <a:br>
              <a:rPr lang="en-US" sz="2000" dirty="0"/>
            </a:br>
            <a:r>
              <a:rPr lang="en-US" sz="2000" dirty="0">
                <a:solidFill>
                  <a:srgbClr val="D7B119"/>
                </a:solidFill>
              </a:rPr>
              <a:t>03 Liquidity , Support &amp; Resistance </a:t>
            </a:r>
            <a:br>
              <a:rPr lang="en-US" sz="2000" dirty="0">
                <a:solidFill>
                  <a:srgbClr val="D7B119"/>
                </a:solidFill>
              </a:rPr>
            </a:br>
            <a:r>
              <a:rPr lang="en-US" sz="2000" dirty="0"/>
              <a:t>●Price Rejection</a:t>
            </a:r>
            <a:br>
              <a:rPr lang="en-US" sz="2000" dirty="0"/>
            </a:br>
            <a:r>
              <a:rPr lang="en-US" sz="2000" dirty="0"/>
              <a:t>●Support Strength</a:t>
            </a:r>
            <a:br>
              <a:rPr lang="en-US" sz="2000" dirty="0"/>
            </a:br>
            <a:r>
              <a:rPr lang="en-US" sz="2000" dirty="0"/>
              <a:t>●Consolidation Range</a:t>
            </a:r>
            <a:br>
              <a:rPr lang="en-US" sz="2000" dirty="0"/>
            </a:br>
            <a:br>
              <a:rPr lang="en-US" sz="2000" dirty="0"/>
            </a:br>
            <a:br>
              <a:rPr lang="en-US" sz="2000" dirty="0"/>
            </a:br>
            <a:endParaRPr sz="2000" dirty="0"/>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182" name="Google Shape;182;p8"/>
          <p:cNvSpPr txBox="1">
            <a:spLocks noGrp="1"/>
          </p:cNvSpPr>
          <p:nvPr>
            <p:ph type="ftr" idx="11"/>
          </p:nvPr>
        </p:nvSpPr>
        <p:spPr>
          <a:xfrm>
            <a:off x="3880338" y="7036526"/>
            <a:ext cx="1362222" cy="69668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3</a:t>
            </a:r>
            <a:endParaRPr dirty="0"/>
          </a:p>
        </p:txBody>
      </p:sp>
      <p:sp>
        <p:nvSpPr>
          <p:cNvPr id="185" name="Google Shape;185;p8"/>
          <p:cNvSpPr/>
          <p:nvPr/>
        </p:nvSpPr>
        <p:spPr>
          <a:xfrm rot="5400000">
            <a:off x="-965997" y="4069881"/>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 name="Google Shape;110;p1">
            <a:extLst>
              <a:ext uri="{FF2B5EF4-FFF2-40B4-BE49-F238E27FC236}">
                <a16:creationId xmlns:a16="http://schemas.microsoft.com/office/drawing/2014/main" id="{B91F1AEC-48E9-F4E8-B40E-4B2E0BCA40B2}"/>
              </a:ext>
            </a:extLst>
          </p:cNvPr>
          <p:cNvPicPr preferRelativeResize="0"/>
          <p:nvPr/>
        </p:nvPicPr>
        <p:blipFill>
          <a:blip r:embed="rId3"/>
          <a:srcRect/>
          <a:stretch/>
        </p:blipFill>
        <p:spPr>
          <a:xfrm>
            <a:off x="9010943" y="6291124"/>
            <a:ext cx="1362250" cy="365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BE25B275-90E7-A5C6-73E7-663269738689}"/>
            </a:ext>
          </a:extLst>
        </p:cNvPr>
        <p:cNvGrpSpPr/>
        <p:nvPr/>
      </p:nvGrpSpPr>
      <p:grpSpPr>
        <a:xfrm>
          <a:off x="0" y="0"/>
          <a:ext cx="0" cy="0"/>
          <a:chOff x="0" y="0"/>
          <a:chExt cx="0" cy="0"/>
        </a:xfrm>
      </p:grpSpPr>
      <p:sp>
        <p:nvSpPr>
          <p:cNvPr id="180" name="Google Shape;180;p8">
            <a:extLst>
              <a:ext uri="{FF2B5EF4-FFF2-40B4-BE49-F238E27FC236}">
                <a16:creationId xmlns:a16="http://schemas.microsoft.com/office/drawing/2014/main" id="{6350353A-6FB9-7405-58C6-0E29CF1DA54D}"/>
              </a:ext>
            </a:extLst>
          </p:cNvPr>
          <p:cNvSpPr txBox="1">
            <a:spLocks noGrp="1"/>
          </p:cNvSpPr>
          <p:nvPr>
            <p:ph type="title"/>
          </p:nvPr>
        </p:nvSpPr>
        <p:spPr>
          <a:xfrm>
            <a:off x="1001486" y="2699656"/>
            <a:ext cx="9849394" cy="303439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sz="2000" b="1" dirty="0">
                <a:solidFill>
                  <a:srgbClr val="336EA8"/>
                </a:solidFill>
              </a:rPr>
              <a:t>Cont. Dashboard Overview</a:t>
            </a:r>
            <a:br>
              <a:rPr lang="en-US" sz="2000" dirty="0"/>
            </a:br>
            <a:r>
              <a:rPr lang="en-US" sz="2000" dirty="0"/>
              <a:t>Project Wireframe — Power BI Dashboard</a:t>
            </a:r>
            <a:br>
              <a:rPr lang="en-US" sz="2000" dirty="0"/>
            </a:br>
            <a:r>
              <a:rPr lang="en-US" sz="2000" dirty="0">
                <a:solidFill>
                  <a:srgbClr val="D7B119"/>
                </a:solidFill>
              </a:rPr>
              <a:t>04 Trend and Breakout Tracking</a:t>
            </a:r>
            <a:br>
              <a:rPr lang="en-US" sz="2000" dirty="0"/>
            </a:br>
            <a:r>
              <a:rPr lang="en-US" sz="2000" dirty="0"/>
              <a:t>●Trend Strength VS Volume</a:t>
            </a:r>
            <a:br>
              <a:rPr lang="en-US" sz="2000" dirty="0"/>
            </a:br>
            <a:r>
              <a:rPr lang="en-US" sz="2000" dirty="0"/>
              <a:t>●Trend Persistence </a:t>
            </a:r>
            <a:br>
              <a:rPr lang="en-US" sz="2000" dirty="0"/>
            </a:br>
            <a:r>
              <a:rPr lang="en-US" sz="2000" dirty="0"/>
              <a:t>●Breakout &amp; Compression Watch</a:t>
            </a:r>
            <a:br>
              <a:rPr lang="en-US" sz="2000" dirty="0"/>
            </a:br>
            <a:r>
              <a:rPr lang="en-US" sz="2000" dirty="0"/>
              <a:t>●Breakout Status</a:t>
            </a:r>
            <a:br>
              <a:rPr lang="en-US" sz="2000" dirty="0"/>
            </a:br>
            <a:r>
              <a:rPr lang="en-US" sz="2000" dirty="0">
                <a:solidFill>
                  <a:srgbClr val="D7B119"/>
                </a:solidFill>
              </a:rPr>
              <a:t>05 Trader Activity &amp; Whale Watch</a:t>
            </a:r>
            <a:br>
              <a:rPr lang="en-US" sz="2000" dirty="0"/>
            </a:br>
            <a:r>
              <a:rPr lang="en-US" sz="2000" dirty="0"/>
              <a:t>●Trade Participation</a:t>
            </a:r>
            <a:br>
              <a:rPr lang="en-US" sz="2000" dirty="0"/>
            </a:br>
            <a:r>
              <a:rPr lang="en-US" sz="2000" dirty="0"/>
              <a:t>●Whale Watch</a:t>
            </a:r>
            <a:br>
              <a:rPr lang="en-US" sz="2000" dirty="0"/>
            </a:br>
            <a:r>
              <a:rPr lang="en-US" sz="2000" dirty="0"/>
              <a:t>●Trade Intensity</a:t>
            </a:r>
            <a:br>
              <a:rPr lang="en-US" sz="2000" dirty="0"/>
            </a:br>
            <a:r>
              <a:rPr lang="en-US" sz="2000" dirty="0"/>
              <a:t>●Volatility Clusters</a:t>
            </a:r>
            <a:br>
              <a:rPr lang="en-US" sz="2000" dirty="0"/>
            </a:br>
            <a:r>
              <a:rPr lang="en-US" sz="2000" dirty="0">
                <a:solidFill>
                  <a:srgbClr val="D7B119"/>
                </a:solidFill>
              </a:rPr>
              <a:t>06 The Forecast</a:t>
            </a:r>
            <a:br>
              <a:rPr lang="en-US" sz="2000" dirty="0"/>
            </a:br>
            <a:r>
              <a:rPr lang="en-US" sz="2000" dirty="0"/>
              <a:t>●Predictions By Timeframe</a:t>
            </a:r>
            <a:br>
              <a:rPr lang="en-US" sz="2000" dirty="0"/>
            </a:br>
            <a:r>
              <a:rPr lang="en-US" sz="2000" dirty="0"/>
              <a:t>●Confusion Matrix</a:t>
            </a:r>
            <a:br>
              <a:rPr lang="en-US" sz="2000" dirty="0"/>
            </a:br>
            <a:r>
              <a:rPr lang="en-US" sz="2000" dirty="0"/>
              <a:t>●Confidence Score</a:t>
            </a:r>
            <a:br>
              <a:rPr lang="en-US" sz="2000" dirty="0"/>
            </a:br>
            <a:r>
              <a:rPr lang="en-US" sz="2000" dirty="0"/>
              <a:t>●Feature Importance</a:t>
            </a:r>
            <a:br>
              <a:rPr lang="en-US" sz="2000" dirty="0"/>
            </a:br>
            <a:br>
              <a:rPr lang="en-US" sz="2000" dirty="0"/>
            </a:br>
            <a:br>
              <a:rPr lang="en-US" sz="2000" dirty="0"/>
            </a:br>
            <a:br>
              <a:rPr lang="en-US" sz="2000" dirty="0"/>
            </a:br>
            <a:br>
              <a:rPr lang="en-US" sz="2000" dirty="0"/>
            </a:br>
            <a:br>
              <a:rPr lang="en-US" sz="2000" dirty="0"/>
            </a:br>
            <a:endParaRPr sz="2000" dirty="0"/>
          </a:p>
        </p:txBody>
      </p:sp>
      <p:sp>
        <p:nvSpPr>
          <p:cNvPr id="181" name="Google Shape;181;p8">
            <a:extLst>
              <a:ext uri="{FF2B5EF4-FFF2-40B4-BE49-F238E27FC236}">
                <a16:creationId xmlns:a16="http://schemas.microsoft.com/office/drawing/2014/main" id="{1AA8B364-82F5-3BDA-6EDE-64FF75FC44E0}"/>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82" name="Google Shape;182;p8">
            <a:extLst>
              <a:ext uri="{FF2B5EF4-FFF2-40B4-BE49-F238E27FC236}">
                <a16:creationId xmlns:a16="http://schemas.microsoft.com/office/drawing/2014/main" id="{3D473997-8AA9-B4B5-B1CF-CAE1079D448B}"/>
              </a:ext>
            </a:extLst>
          </p:cNvPr>
          <p:cNvSpPr txBox="1">
            <a:spLocks noGrp="1"/>
          </p:cNvSpPr>
          <p:nvPr>
            <p:ph type="ftr" idx="11"/>
          </p:nvPr>
        </p:nvSpPr>
        <p:spPr>
          <a:xfrm>
            <a:off x="3880338" y="6966857"/>
            <a:ext cx="1980531" cy="33092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83" name="Google Shape;183;p8">
            <a:extLst>
              <a:ext uri="{FF2B5EF4-FFF2-40B4-BE49-F238E27FC236}">
                <a16:creationId xmlns:a16="http://schemas.microsoft.com/office/drawing/2014/main" id="{D0081F86-55E9-4D57-F09B-0700F236541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4</a:t>
            </a:r>
            <a:endParaRPr dirty="0"/>
          </a:p>
        </p:txBody>
      </p:sp>
      <p:sp>
        <p:nvSpPr>
          <p:cNvPr id="185" name="Google Shape;185;p8">
            <a:extLst>
              <a:ext uri="{FF2B5EF4-FFF2-40B4-BE49-F238E27FC236}">
                <a16:creationId xmlns:a16="http://schemas.microsoft.com/office/drawing/2014/main" id="{7E1BA9AB-7E30-2F1B-D144-25CFFA57B627}"/>
              </a:ext>
            </a:extLst>
          </p:cNvPr>
          <p:cNvSpPr/>
          <p:nvPr/>
        </p:nvSpPr>
        <p:spPr>
          <a:xfrm rot="5400000">
            <a:off x="-965997" y="4069881"/>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 name="Google Shape;110;p1">
            <a:extLst>
              <a:ext uri="{FF2B5EF4-FFF2-40B4-BE49-F238E27FC236}">
                <a16:creationId xmlns:a16="http://schemas.microsoft.com/office/drawing/2014/main" id="{9D4F6488-F3DF-73B3-A71F-BA7EB1B7A19A}"/>
              </a:ext>
            </a:extLst>
          </p:cNvPr>
          <p:cNvPicPr preferRelativeResize="0"/>
          <p:nvPr/>
        </p:nvPicPr>
        <p:blipFill>
          <a:blip r:embed="rId3"/>
          <a:srcRect/>
          <a:stretch/>
        </p:blipFill>
        <p:spPr>
          <a:xfrm>
            <a:off x="9010943" y="6291124"/>
            <a:ext cx="1362250" cy="365125"/>
          </a:xfrm>
          <a:prstGeom prst="rect">
            <a:avLst/>
          </a:prstGeom>
          <a:noFill/>
          <a:ln>
            <a:noFill/>
          </a:ln>
        </p:spPr>
      </p:pic>
    </p:spTree>
    <p:extLst>
      <p:ext uri="{BB962C8B-B14F-4D97-AF65-F5344CB8AC3E}">
        <p14:creationId xmlns:p14="http://schemas.microsoft.com/office/powerpoint/2010/main" val="1819774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1"/>
          <p:cNvSpPr txBox="1">
            <a:spLocks noGrp="1"/>
          </p:cNvSpPr>
          <p:nvPr>
            <p:ph type="body" idx="1"/>
          </p:nvPr>
        </p:nvSpPr>
        <p:spPr>
          <a:xfrm>
            <a:off x="838200" y="1193074"/>
            <a:ext cx="10515600" cy="4983889"/>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b="1" dirty="0">
                <a:solidFill>
                  <a:srgbClr val="336EA8"/>
                </a:solidFill>
              </a:rPr>
              <a:t>End Users + Features</a:t>
            </a:r>
          </a:p>
          <a:p>
            <a:pPr marL="228600" lvl="0" indent="-50800" algn="l" rtl="0">
              <a:lnSpc>
                <a:spcPct val="90000"/>
              </a:lnSpc>
              <a:spcBef>
                <a:spcPts val="0"/>
              </a:spcBef>
              <a:spcAft>
                <a:spcPts val="0"/>
              </a:spcAft>
              <a:buClr>
                <a:schemeClr val="dk1"/>
              </a:buClr>
              <a:buSzPts val="2800"/>
              <a:buNone/>
            </a:pPr>
            <a:r>
              <a:rPr lang="en-US" sz="2000" b="1" dirty="0">
                <a:solidFill>
                  <a:srgbClr val="D7B119"/>
                </a:solidFill>
              </a:rPr>
              <a:t>End Users :</a:t>
            </a:r>
          </a:p>
          <a:p>
            <a:pPr marL="520700">
              <a:spcBef>
                <a:spcPts val="0"/>
              </a:spcBef>
              <a:buSzPts val="2800"/>
            </a:pPr>
            <a:r>
              <a:rPr lang="en-US" sz="2000" dirty="0"/>
              <a:t>Investors &amp; Traders : Monitor market trends and identify trading opportunities.</a:t>
            </a:r>
          </a:p>
          <a:p>
            <a:pPr marL="520700">
              <a:spcBef>
                <a:spcPts val="0"/>
              </a:spcBef>
              <a:buSzPts val="2800"/>
            </a:pPr>
            <a:r>
              <a:rPr lang="en-US" sz="2000" dirty="0"/>
              <a:t>Financial Analysts : Analyze historical Bitcoin market behavior.</a:t>
            </a:r>
          </a:p>
          <a:p>
            <a:pPr marL="520700">
              <a:spcBef>
                <a:spcPts val="0"/>
              </a:spcBef>
              <a:buSzPts val="2800"/>
            </a:pPr>
            <a:r>
              <a:rPr lang="en-US" sz="2000" dirty="0"/>
              <a:t>Researchers :Study cryptocurrency patterns and market dynamics.</a:t>
            </a:r>
          </a:p>
          <a:p>
            <a:pPr marL="177800" indent="0">
              <a:spcBef>
                <a:spcPts val="0"/>
              </a:spcBef>
              <a:buSzPts val="2800"/>
              <a:buNone/>
            </a:pPr>
            <a:endParaRPr lang="en-US" sz="2000" b="1" dirty="0"/>
          </a:p>
          <a:p>
            <a:pPr marL="177800" indent="0">
              <a:spcBef>
                <a:spcPts val="0"/>
              </a:spcBef>
              <a:buSzPts val="2800"/>
              <a:buNone/>
            </a:pPr>
            <a:r>
              <a:rPr lang="en-US" sz="2000" b="1" dirty="0">
                <a:solidFill>
                  <a:srgbClr val="D7B119"/>
                </a:solidFill>
              </a:rPr>
              <a:t>Key Features :</a:t>
            </a:r>
          </a:p>
          <a:p>
            <a:pPr marL="177800" indent="0">
              <a:spcBef>
                <a:spcPts val="0"/>
              </a:spcBef>
              <a:buSzPts val="2800"/>
              <a:buNone/>
            </a:pPr>
            <a:r>
              <a:rPr lang="en-US" sz="2000" dirty="0"/>
              <a:t>✔ Medallion Architecture</a:t>
            </a:r>
          </a:p>
          <a:p>
            <a:pPr marL="177800" indent="0">
              <a:spcBef>
                <a:spcPts val="0"/>
              </a:spcBef>
              <a:buSzPts val="2800"/>
              <a:buNone/>
            </a:pPr>
            <a:r>
              <a:rPr lang="en-US" sz="2000" dirty="0"/>
              <a:t>✔ Data Warehouse (Star Schema)</a:t>
            </a:r>
          </a:p>
          <a:p>
            <a:pPr marL="177800" indent="0">
              <a:spcBef>
                <a:spcPts val="0"/>
              </a:spcBef>
              <a:buSzPts val="2800"/>
              <a:buNone/>
            </a:pPr>
            <a:r>
              <a:rPr lang="en-US" sz="2000" dirty="0"/>
              <a:t>✔ Feature Engineering</a:t>
            </a:r>
          </a:p>
          <a:p>
            <a:pPr marL="177800" indent="0">
              <a:spcBef>
                <a:spcPts val="0"/>
              </a:spcBef>
              <a:buSzPts val="2800"/>
              <a:buNone/>
            </a:pPr>
            <a:r>
              <a:rPr lang="en-US" sz="2000" dirty="0"/>
              <a:t>✔ Interactive Power BI Dashboard</a:t>
            </a:r>
          </a:p>
          <a:p>
            <a:pPr marL="177800" indent="0">
              <a:spcBef>
                <a:spcPts val="0"/>
              </a:spcBef>
              <a:buSzPts val="2800"/>
              <a:buNone/>
            </a:pPr>
            <a:r>
              <a:rPr lang="en-US" sz="2000" dirty="0"/>
              <a:t>✔ Machine Learning Prediction</a:t>
            </a:r>
          </a:p>
          <a:p>
            <a:pPr marL="177800" indent="0">
              <a:spcBef>
                <a:spcPts val="0"/>
              </a:spcBef>
              <a:buSzPts val="2800"/>
              <a:buNone/>
            </a:pPr>
            <a:r>
              <a:rPr lang="en-US" sz="2000" dirty="0"/>
              <a:t>✔ Future Price Forecast</a:t>
            </a:r>
          </a:p>
          <a:p>
            <a:pPr marL="177800" indent="0">
              <a:spcBef>
                <a:spcPts val="0"/>
              </a:spcBef>
              <a:buSzPts val="2800"/>
              <a:buNone/>
            </a:pPr>
            <a:endParaRPr lang="en-US" sz="2000" dirty="0"/>
          </a:p>
          <a:p>
            <a:pPr marL="228600" lvl="0" indent="-50800" algn="l" rtl="0">
              <a:lnSpc>
                <a:spcPct val="90000"/>
              </a:lnSpc>
              <a:spcBef>
                <a:spcPts val="0"/>
              </a:spcBef>
              <a:spcAft>
                <a:spcPts val="0"/>
              </a:spcAft>
              <a:buClr>
                <a:schemeClr val="dk1"/>
              </a:buClr>
              <a:buSzPts val="2800"/>
              <a:buNone/>
            </a:pPr>
            <a:endParaRPr dirty="0"/>
          </a:p>
        </p:txBody>
      </p:sp>
      <p:sp>
        <p:nvSpPr>
          <p:cNvPr id="215" name="Google Shape;21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16" name="Google Shape;216;p11"/>
          <p:cNvSpPr txBox="1">
            <a:spLocks noGrp="1"/>
          </p:cNvSpPr>
          <p:nvPr>
            <p:ph type="ftr" idx="11"/>
          </p:nvPr>
        </p:nvSpPr>
        <p:spPr>
          <a:xfrm flipV="1">
            <a:off x="3880338" y="7167153"/>
            <a:ext cx="1214176" cy="4571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17" name="Google Shape;21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5</a:t>
            </a:r>
            <a:endParaRPr dirty="0"/>
          </a:p>
        </p:txBody>
      </p:sp>
      <p:pic>
        <p:nvPicPr>
          <p:cNvPr id="2" name="Google Shape;110;p1">
            <a:extLst>
              <a:ext uri="{FF2B5EF4-FFF2-40B4-BE49-F238E27FC236}">
                <a16:creationId xmlns:a16="http://schemas.microsoft.com/office/drawing/2014/main" id="{2E0295A1-3AEC-1EA2-58F1-FD4A8C06D639}"/>
              </a:ext>
            </a:extLst>
          </p:cNvPr>
          <p:cNvPicPr preferRelativeResize="0"/>
          <p:nvPr/>
        </p:nvPicPr>
        <p:blipFill>
          <a:blip r:embed="rId3"/>
          <a:srcRect/>
          <a:stretch/>
        </p:blipFill>
        <p:spPr>
          <a:xfrm>
            <a:off x="9010943" y="6291124"/>
            <a:ext cx="1362250" cy="365125"/>
          </a:xfrm>
          <a:prstGeom prst="rect">
            <a:avLst/>
          </a:prstGeom>
          <a:noFill/>
          <a:ln>
            <a:noFill/>
          </a:ln>
        </p:spPr>
      </p:pic>
      <p:pic>
        <p:nvPicPr>
          <p:cNvPr id="4" name="Picture 3">
            <a:extLst>
              <a:ext uri="{FF2B5EF4-FFF2-40B4-BE49-F238E27FC236}">
                <a16:creationId xmlns:a16="http://schemas.microsoft.com/office/drawing/2014/main" id="{51E248E5-FD2B-6AD3-4645-296DA5BE011E}"/>
              </a:ext>
            </a:extLst>
          </p:cNvPr>
          <p:cNvPicPr>
            <a:picLocks noChangeAspect="1"/>
          </p:cNvPicPr>
          <p:nvPr/>
        </p:nvPicPr>
        <p:blipFill>
          <a:blip r:embed="rId4"/>
          <a:stretch>
            <a:fillRect/>
          </a:stretch>
        </p:blipFill>
        <p:spPr>
          <a:xfrm>
            <a:off x="6911905" y="2791096"/>
            <a:ext cx="4198076" cy="28738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6E08DC9D-1CEE-5FBD-E9B1-D29B30EA3C9E}"/>
            </a:ext>
          </a:extLst>
        </p:cNvPr>
        <p:cNvGrpSpPr/>
        <p:nvPr/>
      </p:nvGrpSpPr>
      <p:grpSpPr>
        <a:xfrm>
          <a:off x="0" y="0"/>
          <a:ext cx="0" cy="0"/>
          <a:chOff x="0" y="0"/>
          <a:chExt cx="0" cy="0"/>
        </a:xfrm>
      </p:grpSpPr>
      <p:sp>
        <p:nvSpPr>
          <p:cNvPr id="214" name="Google Shape;214;p11">
            <a:extLst>
              <a:ext uri="{FF2B5EF4-FFF2-40B4-BE49-F238E27FC236}">
                <a16:creationId xmlns:a16="http://schemas.microsoft.com/office/drawing/2014/main" id="{7E0372E3-CB52-7C68-6645-F59782D38720}"/>
              </a:ext>
            </a:extLst>
          </p:cNvPr>
          <p:cNvSpPr txBox="1">
            <a:spLocks noGrp="1"/>
          </p:cNvSpPr>
          <p:nvPr>
            <p:ph type="body" idx="1"/>
          </p:nvPr>
        </p:nvSpPr>
        <p:spPr>
          <a:xfrm>
            <a:off x="838200" y="1193074"/>
            <a:ext cx="10515600" cy="4983889"/>
          </a:xfrm>
          <a:prstGeom prst="rect">
            <a:avLst/>
          </a:prstGeom>
          <a:noFill/>
          <a:ln>
            <a:noFill/>
          </a:ln>
        </p:spPr>
        <p:txBody>
          <a:bodyPr spcFirstLastPara="1" wrap="square" lIns="91425" tIns="45700" rIns="91425" bIns="45700" anchor="t" anchorCtr="0">
            <a:normAutofit/>
          </a:bodyPr>
          <a:lstStyle/>
          <a:p>
            <a:pPr marL="177800" indent="0">
              <a:spcBef>
                <a:spcPts val="0"/>
              </a:spcBef>
              <a:buSzPts val="2800"/>
              <a:buNone/>
            </a:pPr>
            <a:r>
              <a:rPr lang="en-US" sz="5100" b="1" dirty="0">
                <a:solidFill>
                  <a:srgbClr val="336EA8"/>
                </a:solidFill>
              </a:rPr>
              <a:t>Data Structure</a:t>
            </a:r>
          </a:p>
          <a:p>
            <a:pPr marL="228600" lvl="0" indent="-50800" algn="l" rtl="0">
              <a:lnSpc>
                <a:spcPct val="90000"/>
              </a:lnSpc>
              <a:spcBef>
                <a:spcPts val="0"/>
              </a:spcBef>
              <a:spcAft>
                <a:spcPts val="0"/>
              </a:spcAft>
              <a:buClr>
                <a:schemeClr val="dk1"/>
              </a:buClr>
              <a:buSzPts val="2800"/>
              <a:buNone/>
            </a:pPr>
            <a:r>
              <a:rPr lang="en-US" sz="2000" b="1" dirty="0"/>
              <a:t>Dataset Overview</a:t>
            </a:r>
          </a:p>
          <a:p>
            <a:pPr marL="520700" lvl="0" algn="l" rtl="0">
              <a:lnSpc>
                <a:spcPct val="90000"/>
              </a:lnSpc>
              <a:spcBef>
                <a:spcPts val="0"/>
              </a:spcBef>
              <a:spcAft>
                <a:spcPts val="0"/>
              </a:spcAft>
              <a:buClr>
                <a:schemeClr val="dk1"/>
              </a:buClr>
              <a:buSzPts val="2800"/>
              <a:buFontTx/>
              <a:buChar char="-"/>
            </a:pPr>
            <a:r>
              <a:rPr lang="en-US" sz="2000" dirty="0"/>
              <a:t>Source : Kaggle — Bitcoin Historical Dataset</a:t>
            </a:r>
          </a:p>
          <a:p>
            <a:pPr marL="520700" lvl="0" algn="l" rtl="0">
              <a:lnSpc>
                <a:spcPct val="90000"/>
              </a:lnSpc>
              <a:spcBef>
                <a:spcPts val="0"/>
              </a:spcBef>
              <a:spcAft>
                <a:spcPts val="0"/>
              </a:spcAft>
              <a:buClr>
                <a:schemeClr val="dk1"/>
              </a:buClr>
              <a:buSzPts val="2800"/>
              <a:buFontTx/>
              <a:buChar char="-"/>
            </a:pPr>
            <a:r>
              <a:rPr lang="en-US" sz="2000" dirty="0"/>
              <a:t>Period : 2018 – 2025</a:t>
            </a:r>
          </a:p>
          <a:p>
            <a:pPr marL="520700" lvl="0" algn="l" rtl="0">
              <a:lnSpc>
                <a:spcPct val="90000"/>
              </a:lnSpc>
              <a:spcBef>
                <a:spcPts val="0"/>
              </a:spcBef>
              <a:spcAft>
                <a:spcPts val="0"/>
              </a:spcAft>
              <a:buClr>
                <a:schemeClr val="dk1"/>
              </a:buClr>
              <a:buSzPts val="2800"/>
              <a:buFontTx/>
              <a:buChar char="-"/>
            </a:pPr>
            <a:r>
              <a:rPr lang="en-US" sz="2000" dirty="0"/>
              <a:t>Timeframes :</a:t>
            </a:r>
          </a:p>
          <a:p>
            <a:pPr marL="177800" lvl="0" indent="0" algn="l" rtl="0">
              <a:lnSpc>
                <a:spcPct val="90000"/>
              </a:lnSpc>
              <a:spcBef>
                <a:spcPts val="0"/>
              </a:spcBef>
              <a:spcAft>
                <a:spcPts val="0"/>
              </a:spcAft>
              <a:buClr>
                <a:schemeClr val="dk1"/>
              </a:buClr>
              <a:buSzPts val="2800"/>
              <a:buNone/>
            </a:pPr>
            <a:r>
              <a:rPr lang="en-US" sz="2000" dirty="0"/>
              <a:t>●15 Minutes</a:t>
            </a:r>
          </a:p>
          <a:p>
            <a:pPr marL="177800" lvl="0" indent="0" algn="l" rtl="0">
              <a:lnSpc>
                <a:spcPct val="90000"/>
              </a:lnSpc>
              <a:spcBef>
                <a:spcPts val="0"/>
              </a:spcBef>
              <a:spcAft>
                <a:spcPts val="0"/>
              </a:spcAft>
              <a:buClr>
                <a:schemeClr val="dk1"/>
              </a:buClr>
              <a:buSzPts val="2800"/>
              <a:buNone/>
            </a:pPr>
            <a:r>
              <a:rPr lang="en-US" sz="2000" dirty="0"/>
              <a:t>●1 Hour</a:t>
            </a:r>
          </a:p>
          <a:p>
            <a:pPr marL="177800" lvl="0" indent="0" algn="l" rtl="0">
              <a:lnSpc>
                <a:spcPct val="90000"/>
              </a:lnSpc>
              <a:spcBef>
                <a:spcPts val="0"/>
              </a:spcBef>
              <a:spcAft>
                <a:spcPts val="0"/>
              </a:spcAft>
              <a:buClr>
                <a:schemeClr val="dk1"/>
              </a:buClr>
              <a:buSzPts val="2800"/>
              <a:buNone/>
            </a:pPr>
            <a:r>
              <a:rPr lang="en-US" sz="2000" dirty="0"/>
              <a:t>●4 Hours</a:t>
            </a:r>
          </a:p>
          <a:p>
            <a:pPr marL="177800" lvl="0" indent="0" algn="l" rtl="0">
              <a:lnSpc>
                <a:spcPct val="90000"/>
              </a:lnSpc>
              <a:spcBef>
                <a:spcPts val="0"/>
              </a:spcBef>
              <a:spcAft>
                <a:spcPts val="0"/>
              </a:spcAft>
              <a:buClr>
                <a:schemeClr val="dk1"/>
              </a:buClr>
              <a:buSzPts val="2800"/>
              <a:buNone/>
            </a:pPr>
            <a:r>
              <a:rPr lang="en-US" sz="2000" dirty="0"/>
              <a:t>●1 Day</a:t>
            </a:r>
          </a:p>
          <a:p>
            <a:pPr marL="520700" lvl="0" algn="l" rtl="0">
              <a:lnSpc>
                <a:spcPct val="90000"/>
              </a:lnSpc>
              <a:spcBef>
                <a:spcPts val="0"/>
              </a:spcBef>
              <a:spcAft>
                <a:spcPts val="0"/>
              </a:spcAft>
              <a:buClr>
                <a:schemeClr val="dk1"/>
              </a:buClr>
              <a:buSzPts val="2800"/>
              <a:buFontTx/>
              <a:buChar char="-"/>
            </a:pPr>
            <a:r>
              <a:rPr lang="en-US" sz="2000" dirty="0"/>
              <a:t>Raw Data</a:t>
            </a:r>
          </a:p>
          <a:p>
            <a:pPr marL="177800" lvl="0" indent="0" algn="l" rtl="0">
              <a:lnSpc>
                <a:spcPct val="90000"/>
              </a:lnSpc>
              <a:spcBef>
                <a:spcPts val="0"/>
              </a:spcBef>
              <a:spcAft>
                <a:spcPts val="0"/>
              </a:spcAft>
              <a:buClr>
                <a:schemeClr val="dk1"/>
              </a:buClr>
              <a:buSzPts val="2800"/>
              <a:buNone/>
            </a:pPr>
            <a:r>
              <a:rPr lang="en-US" sz="2000" dirty="0"/>
              <a:t>●Open</a:t>
            </a:r>
          </a:p>
          <a:p>
            <a:pPr marL="177800" lvl="0" indent="0" algn="l" rtl="0">
              <a:lnSpc>
                <a:spcPct val="90000"/>
              </a:lnSpc>
              <a:spcBef>
                <a:spcPts val="0"/>
              </a:spcBef>
              <a:spcAft>
                <a:spcPts val="0"/>
              </a:spcAft>
              <a:buClr>
                <a:schemeClr val="dk1"/>
              </a:buClr>
              <a:buSzPts val="2800"/>
              <a:buNone/>
            </a:pPr>
            <a:r>
              <a:rPr lang="en-US" sz="2000" dirty="0"/>
              <a:t>●High</a:t>
            </a:r>
          </a:p>
          <a:p>
            <a:pPr marL="177800" lvl="0" indent="0" algn="l" rtl="0">
              <a:lnSpc>
                <a:spcPct val="90000"/>
              </a:lnSpc>
              <a:spcBef>
                <a:spcPts val="0"/>
              </a:spcBef>
              <a:spcAft>
                <a:spcPts val="0"/>
              </a:spcAft>
              <a:buClr>
                <a:schemeClr val="dk1"/>
              </a:buClr>
              <a:buSzPts val="2800"/>
              <a:buNone/>
            </a:pPr>
            <a:r>
              <a:rPr lang="en-US" sz="2000" dirty="0"/>
              <a:t>●Low</a:t>
            </a:r>
          </a:p>
          <a:p>
            <a:pPr marL="177800" lvl="0" indent="0" algn="l" rtl="0">
              <a:lnSpc>
                <a:spcPct val="90000"/>
              </a:lnSpc>
              <a:spcBef>
                <a:spcPts val="0"/>
              </a:spcBef>
              <a:spcAft>
                <a:spcPts val="0"/>
              </a:spcAft>
              <a:buClr>
                <a:schemeClr val="dk1"/>
              </a:buClr>
              <a:buSzPts val="2800"/>
              <a:buNone/>
            </a:pPr>
            <a:r>
              <a:rPr lang="en-US" sz="2000" dirty="0"/>
              <a:t>●Close</a:t>
            </a:r>
          </a:p>
          <a:p>
            <a:pPr marL="177800" lvl="0" indent="0" algn="l" rtl="0">
              <a:lnSpc>
                <a:spcPct val="90000"/>
              </a:lnSpc>
              <a:spcBef>
                <a:spcPts val="0"/>
              </a:spcBef>
              <a:spcAft>
                <a:spcPts val="0"/>
              </a:spcAft>
              <a:buClr>
                <a:schemeClr val="dk1"/>
              </a:buClr>
              <a:buSzPts val="2800"/>
              <a:buNone/>
            </a:pPr>
            <a:r>
              <a:rPr lang="en-US" sz="2000" dirty="0"/>
              <a:t>●Volume</a:t>
            </a:r>
          </a:p>
          <a:p>
            <a:pPr marL="177800" lvl="0" indent="0" algn="l" rtl="0">
              <a:lnSpc>
                <a:spcPct val="90000"/>
              </a:lnSpc>
              <a:spcBef>
                <a:spcPts val="0"/>
              </a:spcBef>
              <a:spcAft>
                <a:spcPts val="0"/>
              </a:spcAft>
              <a:buClr>
                <a:schemeClr val="dk1"/>
              </a:buClr>
              <a:buSzPts val="2800"/>
              <a:buNone/>
            </a:pPr>
            <a:r>
              <a:rPr lang="en-US" sz="2000" dirty="0"/>
              <a:t>●Number of Trades</a:t>
            </a:r>
          </a:p>
          <a:p>
            <a:pPr marL="177800" lvl="0" indent="0" algn="l" rtl="0">
              <a:lnSpc>
                <a:spcPct val="90000"/>
              </a:lnSpc>
              <a:spcBef>
                <a:spcPts val="0"/>
              </a:spcBef>
              <a:spcAft>
                <a:spcPts val="0"/>
              </a:spcAft>
              <a:buClr>
                <a:schemeClr val="dk1"/>
              </a:buClr>
              <a:buSzPts val="2800"/>
              <a:buNone/>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228600" lvl="0" indent="-50800" algn="l" rtl="0">
              <a:lnSpc>
                <a:spcPct val="90000"/>
              </a:lnSpc>
              <a:spcBef>
                <a:spcPts val="0"/>
              </a:spcBef>
              <a:spcAft>
                <a:spcPts val="0"/>
              </a:spcAft>
              <a:buClr>
                <a:schemeClr val="dk1"/>
              </a:buClr>
              <a:buSzPts val="2800"/>
              <a:buNone/>
            </a:pPr>
            <a:endParaRPr sz="2000" b="1" dirty="0"/>
          </a:p>
        </p:txBody>
      </p:sp>
      <p:sp>
        <p:nvSpPr>
          <p:cNvPr id="215" name="Google Shape;215;p11">
            <a:extLst>
              <a:ext uri="{FF2B5EF4-FFF2-40B4-BE49-F238E27FC236}">
                <a16:creationId xmlns:a16="http://schemas.microsoft.com/office/drawing/2014/main" id="{9D8A76EE-0BE0-90F7-7658-3DFD5E222D4C}"/>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16" name="Google Shape;216;p11">
            <a:extLst>
              <a:ext uri="{FF2B5EF4-FFF2-40B4-BE49-F238E27FC236}">
                <a16:creationId xmlns:a16="http://schemas.microsoft.com/office/drawing/2014/main" id="{77DF027F-5B20-4DE2-BAD8-83B46AF586EF}"/>
              </a:ext>
            </a:extLst>
          </p:cNvPr>
          <p:cNvSpPr txBox="1">
            <a:spLocks noGrp="1"/>
          </p:cNvSpPr>
          <p:nvPr>
            <p:ph type="ftr" idx="11"/>
          </p:nvPr>
        </p:nvSpPr>
        <p:spPr>
          <a:xfrm flipV="1">
            <a:off x="3880338" y="7184571"/>
            <a:ext cx="1754108" cy="4571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17" name="Google Shape;217;p11">
            <a:extLst>
              <a:ext uri="{FF2B5EF4-FFF2-40B4-BE49-F238E27FC236}">
                <a16:creationId xmlns:a16="http://schemas.microsoft.com/office/drawing/2014/main" id="{B2505135-2A00-99CF-1154-255AE4E51C1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6</a:t>
            </a:r>
            <a:endParaRPr dirty="0"/>
          </a:p>
        </p:txBody>
      </p:sp>
      <p:pic>
        <p:nvPicPr>
          <p:cNvPr id="2" name="Google Shape;110;p1">
            <a:extLst>
              <a:ext uri="{FF2B5EF4-FFF2-40B4-BE49-F238E27FC236}">
                <a16:creationId xmlns:a16="http://schemas.microsoft.com/office/drawing/2014/main" id="{CFED8C41-8002-0C7A-31C8-FD8CC7380E32}"/>
              </a:ext>
            </a:extLst>
          </p:cNvPr>
          <p:cNvPicPr preferRelativeResize="0"/>
          <p:nvPr/>
        </p:nvPicPr>
        <p:blipFill>
          <a:blip r:embed="rId3"/>
          <a:srcRect/>
          <a:stretch/>
        </p:blipFill>
        <p:spPr>
          <a:xfrm>
            <a:off x="9010943" y="6291124"/>
            <a:ext cx="1362250" cy="365125"/>
          </a:xfrm>
          <a:prstGeom prst="rect">
            <a:avLst/>
          </a:prstGeom>
          <a:noFill/>
          <a:ln>
            <a:noFill/>
          </a:ln>
        </p:spPr>
      </p:pic>
    </p:spTree>
    <p:extLst>
      <p:ext uri="{BB962C8B-B14F-4D97-AF65-F5344CB8AC3E}">
        <p14:creationId xmlns:p14="http://schemas.microsoft.com/office/powerpoint/2010/main" val="3710276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D41C274E-3A53-0972-AA11-9F93A7A54801}"/>
            </a:ext>
          </a:extLst>
        </p:cNvPr>
        <p:cNvGrpSpPr/>
        <p:nvPr/>
      </p:nvGrpSpPr>
      <p:grpSpPr>
        <a:xfrm>
          <a:off x="0" y="0"/>
          <a:ext cx="0" cy="0"/>
          <a:chOff x="0" y="0"/>
          <a:chExt cx="0" cy="0"/>
        </a:xfrm>
      </p:grpSpPr>
      <p:sp>
        <p:nvSpPr>
          <p:cNvPr id="214" name="Google Shape;214;p11">
            <a:extLst>
              <a:ext uri="{FF2B5EF4-FFF2-40B4-BE49-F238E27FC236}">
                <a16:creationId xmlns:a16="http://schemas.microsoft.com/office/drawing/2014/main" id="{7731B2CE-9D02-2780-8772-BCD305E6A13F}"/>
              </a:ext>
            </a:extLst>
          </p:cNvPr>
          <p:cNvSpPr txBox="1">
            <a:spLocks noGrp="1"/>
          </p:cNvSpPr>
          <p:nvPr>
            <p:ph type="body" idx="1"/>
          </p:nvPr>
        </p:nvSpPr>
        <p:spPr>
          <a:xfrm>
            <a:off x="838200" y="1193074"/>
            <a:ext cx="5876109" cy="4983889"/>
          </a:xfrm>
          <a:prstGeom prst="rect">
            <a:avLst/>
          </a:prstGeom>
          <a:noFill/>
          <a:ln>
            <a:noFill/>
          </a:ln>
        </p:spPr>
        <p:txBody>
          <a:bodyPr spcFirstLastPara="1" wrap="square" lIns="91425" tIns="45700" rIns="91425" bIns="45700" anchor="t" anchorCtr="0">
            <a:normAutofit/>
          </a:bodyPr>
          <a:lstStyle/>
          <a:p>
            <a:pPr marL="177800" indent="0">
              <a:spcBef>
                <a:spcPts val="0"/>
              </a:spcBef>
              <a:buSzPts val="2800"/>
              <a:buNone/>
            </a:pPr>
            <a:r>
              <a:rPr lang="en-US" sz="5100" b="1" dirty="0">
                <a:solidFill>
                  <a:srgbClr val="336EA8"/>
                </a:solidFill>
              </a:rPr>
              <a:t>Cont. Data Structure</a:t>
            </a:r>
          </a:p>
          <a:p>
            <a:pPr marL="177800" indent="0">
              <a:spcBef>
                <a:spcPts val="0"/>
              </a:spcBef>
              <a:buSzPts val="2800"/>
              <a:buNone/>
            </a:pPr>
            <a:r>
              <a:rPr lang="en-US" sz="2000" dirty="0"/>
              <a:t>- Engineered Features :</a:t>
            </a:r>
          </a:p>
          <a:p>
            <a:pPr marL="177800" lvl="0" indent="0" algn="l" rtl="0">
              <a:lnSpc>
                <a:spcPct val="90000"/>
              </a:lnSpc>
              <a:spcBef>
                <a:spcPts val="0"/>
              </a:spcBef>
              <a:spcAft>
                <a:spcPts val="0"/>
              </a:spcAft>
              <a:buClr>
                <a:schemeClr val="dk1"/>
              </a:buClr>
              <a:buSzPts val="2800"/>
              <a:buNone/>
            </a:pPr>
            <a:r>
              <a:rPr lang="en-US" sz="2000" dirty="0"/>
              <a:t>●Price Change</a:t>
            </a:r>
          </a:p>
          <a:p>
            <a:pPr marL="177800" lvl="0" indent="0" algn="l" rtl="0">
              <a:lnSpc>
                <a:spcPct val="90000"/>
              </a:lnSpc>
              <a:spcBef>
                <a:spcPts val="0"/>
              </a:spcBef>
              <a:spcAft>
                <a:spcPts val="0"/>
              </a:spcAft>
              <a:buClr>
                <a:schemeClr val="dk1"/>
              </a:buClr>
              <a:buSzPts val="2800"/>
              <a:buNone/>
            </a:pPr>
            <a:r>
              <a:rPr lang="en-US" sz="2000" dirty="0"/>
              <a:t>●Return Percentage</a:t>
            </a:r>
          </a:p>
          <a:p>
            <a:pPr marL="177800" lvl="0" indent="0" algn="l" rtl="0">
              <a:lnSpc>
                <a:spcPct val="90000"/>
              </a:lnSpc>
              <a:spcBef>
                <a:spcPts val="0"/>
              </a:spcBef>
              <a:spcAft>
                <a:spcPts val="0"/>
              </a:spcAft>
              <a:buClr>
                <a:schemeClr val="dk1"/>
              </a:buClr>
              <a:buSzPts val="2800"/>
              <a:buNone/>
            </a:pPr>
            <a:r>
              <a:rPr lang="en-US" sz="2000" dirty="0"/>
              <a:t>●Volatility</a:t>
            </a:r>
          </a:p>
          <a:p>
            <a:pPr marL="177800" lvl="0" indent="0" algn="l" rtl="0">
              <a:lnSpc>
                <a:spcPct val="90000"/>
              </a:lnSpc>
              <a:spcBef>
                <a:spcPts val="0"/>
              </a:spcBef>
              <a:spcAft>
                <a:spcPts val="0"/>
              </a:spcAft>
              <a:buClr>
                <a:schemeClr val="dk1"/>
              </a:buClr>
              <a:buSzPts val="2800"/>
              <a:buNone/>
            </a:pPr>
            <a:r>
              <a:rPr lang="en-US" sz="2000" dirty="0"/>
              <a:t>●Trend Strength</a:t>
            </a:r>
          </a:p>
          <a:p>
            <a:pPr marL="177800" lvl="0" indent="0" algn="l" rtl="0">
              <a:lnSpc>
                <a:spcPct val="90000"/>
              </a:lnSpc>
              <a:spcBef>
                <a:spcPts val="0"/>
              </a:spcBef>
              <a:spcAft>
                <a:spcPts val="0"/>
              </a:spcAft>
              <a:buClr>
                <a:schemeClr val="dk1"/>
              </a:buClr>
              <a:buSzPts val="2800"/>
              <a:buNone/>
            </a:pPr>
            <a:r>
              <a:rPr lang="en-US" sz="2000" dirty="0"/>
              <a:t>●Buy Ratio</a:t>
            </a:r>
          </a:p>
          <a:p>
            <a:pPr marL="177800" lvl="0" indent="0" algn="l" rtl="0">
              <a:lnSpc>
                <a:spcPct val="90000"/>
              </a:lnSpc>
              <a:spcBef>
                <a:spcPts val="0"/>
              </a:spcBef>
              <a:spcAft>
                <a:spcPts val="0"/>
              </a:spcAft>
              <a:buClr>
                <a:schemeClr val="dk1"/>
              </a:buClr>
              <a:buSzPts val="2800"/>
              <a:buNone/>
            </a:pPr>
            <a:r>
              <a:rPr lang="en-US" sz="2000" dirty="0"/>
              <a:t>●Order Flow</a:t>
            </a:r>
          </a:p>
          <a:p>
            <a:pPr marL="177800" lvl="0" indent="0" algn="l" rtl="0">
              <a:lnSpc>
                <a:spcPct val="90000"/>
              </a:lnSpc>
              <a:spcBef>
                <a:spcPts val="0"/>
              </a:spcBef>
              <a:spcAft>
                <a:spcPts val="0"/>
              </a:spcAft>
              <a:buClr>
                <a:schemeClr val="dk1"/>
              </a:buClr>
              <a:buSzPts val="2800"/>
              <a:buNone/>
            </a:pPr>
            <a:r>
              <a:rPr lang="en-US" sz="2000" dirty="0"/>
              <a:t>●Whale Activity</a:t>
            </a:r>
          </a:p>
          <a:p>
            <a:pPr marL="177800" lvl="0" indent="0" algn="l" rtl="0">
              <a:lnSpc>
                <a:spcPct val="90000"/>
              </a:lnSpc>
              <a:spcBef>
                <a:spcPts val="0"/>
              </a:spcBef>
              <a:spcAft>
                <a:spcPts val="0"/>
              </a:spcAft>
              <a:buClr>
                <a:schemeClr val="dk1"/>
              </a:buClr>
              <a:buSzPts val="2800"/>
              <a:buNone/>
            </a:pPr>
            <a:r>
              <a:rPr lang="en-US" sz="2000" dirty="0"/>
              <a:t>●Breakout</a:t>
            </a:r>
          </a:p>
          <a:p>
            <a:pPr marL="177800" lvl="0" indent="0" algn="l" rtl="0">
              <a:lnSpc>
                <a:spcPct val="90000"/>
              </a:lnSpc>
              <a:spcBef>
                <a:spcPts val="0"/>
              </a:spcBef>
              <a:spcAft>
                <a:spcPts val="0"/>
              </a:spcAft>
              <a:buClr>
                <a:schemeClr val="dk1"/>
              </a:buClr>
              <a:buSzPts val="2800"/>
              <a:buNone/>
            </a:pPr>
            <a:r>
              <a:rPr lang="en-US" sz="2000" dirty="0"/>
              <a:t>●Support &amp; Resistance</a:t>
            </a:r>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228600" lvl="0" indent="-50800" algn="l" rtl="0">
              <a:lnSpc>
                <a:spcPct val="90000"/>
              </a:lnSpc>
              <a:spcBef>
                <a:spcPts val="0"/>
              </a:spcBef>
              <a:spcAft>
                <a:spcPts val="0"/>
              </a:spcAft>
              <a:buClr>
                <a:schemeClr val="dk1"/>
              </a:buClr>
              <a:buSzPts val="2800"/>
              <a:buNone/>
            </a:pPr>
            <a:endParaRPr sz="2000" b="1" dirty="0"/>
          </a:p>
        </p:txBody>
      </p:sp>
      <p:sp>
        <p:nvSpPr>
          <p:cNvPr id="215" name="Google Shape;215;p11">
            <a:extLst>
              <a:ext uri="{FF2B5EF4-FFF2-40B4-BE49-F238E27FC236}">
                <a16:creationId xmlns:a16="http://schemas.microsoft.com/office/drawing/2014/main" id="{42B8D4E0-6BB6-EFB5-58DE-543BF589BB40}"/>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16" name="Google Shape;216;p11">
            <a:extLst>
              <a:ext uri="{FF2B5EF4-FFF2-40B4-BE49-F238E27FC236}">
                <a16:creationId xmlns:a16="http://schemas.microsoft.com/office/drawing/2014/main" id="{C57BBE05-D45C-5D22-ABBA-726FFE64E052}"/>
              </a:ext>
            </a:extLst>
          </p:cNvPr>
          <p:cNvSpPr txBox="1">
            <a:spLocks noGrp="1"/>
          </p:cNvSpPr>
          <p:nvPr>
            <p:ph type="ftr" idx="11"/>
          </p:nvPr>
        </p:nvSpPr>
        <p:spPr>
          <a:xfrm flipV="1">
            <a:off x="3880338" y="7219406"/>
            <a:ext cx="1571228" cy="12192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17" name="Google Shape;217;p11">
            <a:extLst>
              <a:ext uri="{FF2B5EF4-FFF2-40B4-BE49-F238E27FC236}">
                <a16:creationId xmlns:a16="http://schemas.microsoft.com/office/drawing/2014/main" id="{F926FF47-A749-49CE-FBC2-8D239CFB0E0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7</a:t>
            </a:r>
            <a:endParaRPr dirty="0"/>
          </a:p>
        </p:txBody>
      </p:sp>
      <p:pic>
        <p:nvPicPr>
          <p:cNvPr id="2" name="Google Shape;110;p1">
            <a:extLst>
              <a:ext uri="{FF2B5EF4-FFF2-40B4-BE49-F238E27FC236}">
                <a16:creationId xmlns:a16="http://schemas.microsoft.com/office/drawing/2014/main" id="{2C274E58-0BAE-0B4C-D863-184EF71D902E}"/>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1588FABD-9DC1-835D-DBAA-4A8563799599}"/>
              </a:ext>
            </a:extLst>
          </p:cNvPr>
          <p:cNvSpPr txBox="1"/>
          <p:nvPr/>
        </p:nvSpPr>
        <p:spPr>
          <a:xfrm>
            <a:off x="6836228" y="1187554"/>
            <a:ext cx="5172891" cy="3200876"/>
          </a:xfrm>
          <a:prstGeom prst="rect">
            <a:avLst/>
          </a:prstGeom>
          <a:noFill/>
        </p:spPr>
        <p:txBody>
          <a:bodyPr wrap="square" rtlCol="0">
            <a:spAutoFit/>
          </a:bodyPr>
          <a:lstStyle/>
          <a:p>
            <a:endParaRPr lang="en-US" dirty="0"/>
          </a:p>
          <a:p>
            <a:endParaRPr lang="en-US" dirty="0"/>
          </a:p>
          <a:p>
            <a:endParaRPr lang="en-US" dirty="0"/>
          </a:p>
          <a:p>
            <a:r>
              <a:rPr lang="en-US" sz="2000" b="1" dirty="0"/>
              <a:t>Medallion Architecture :</a:t>
            </a:r>
          </a:p>
          <a:p>
            <a:r>
              <a:rPr lang="en-US" sz="2000" dirty="0"/>
              <a:t>Bronze</a:t>
            </a:r>
          </a:p>
          <a:p>
            <a:r>
              <a:rPr lang="en-US" sz="2000" dirty="0"/>
              <a:t>↓</a:t>
            </a:r>
          </a:p>
          <a:p>
            <a:r>
              <a:rPr lang="en-US" sz="2000" dirty="0"/>
              <a:t>Silver</a:t>
            </a:r>
          </a:p>
          <a:p>
            <a:r>
              <a:rPr lang="en-US" sz="2000" dirty="0"/>
              <a:t>↓</a:t>
            </a:r>
          </a:p>
          <a:p>
            <a:r>
              <a:rPr lang="en-US" sz="2000" dirty="0"/>
              <a:t>Gold</a:t>
            </a:r>
          </a:p>
          <a:p>
            <a:r>
              <a:rPr lang="en-US" sz="2000" dirty="0"/>
              <a:t>↓</a:t>
            </a:r>
          </a:p>
          <a:p>
            <a:r>
              <a:rPr lang="en-US" sz="2000" dirty="0"/>
              <a:t>Power BI + Machine Learning</a:t>
            </a:r>
          </a:p>
        </p:txBody>
      </p:sp>
    </p:spTree>
    <p:extLst>
      <p:ext uri="{BB962C8B-B14F-4D97-AF65-F5344CB8AC3E}">
        <p14:creationId xmlns:p14="http://schemas.microsoft.com/office/powerpoint/2010/main" val="2556536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2BA7EAEE-6741-7F50-C448-EB8A3EC78CBD}"/>
            </a:ext>
          </a:extLst>
        </p:cNvPr>
        <p:cNvGrpSpPr/>
        <p:nvPr/>
      </p:nvGrpSpPr>
      <p:grpSpPr>
        <a:xfrm>
          <a:off x="0" y="0"/>
          <a:ext cx="0" cy="0"/>
          <a:chOff x="0" y="0"/>
          <a:chExt cx="0" cy="0"/>
        </a:xfrm>
      </p:grpSpPr>
      <p:sp>
        <p:nvSpPr>
          <p:cNvPr id="214" name="Google Shape;214;p11">
            <a:extLst>
              <a:ext uri="{FF2B5EF4-FFF2-40B4-BE49-F238E27FC236}">
                <a16:creationId xmlns:a16="http://schemas.microsoft.com/office/drawing/2014/main" id="{04568751-6AFF-8FE4-2D85-9BBAB3338016}"/>
              </a:ext>
            </a:extLst>
          </p:cNvPr>
          <p:cNvSpPr txBox="1">
            <a:spLocks noGrp="1"/>
          </p:cNvSpPr>
          <p:nvPr>
            <p:ph type="body" idx="1"/>
          </p:nvPr>
        </p:nvSpPr>
        <p:spPr>
          <a:xfrm>
            <a:off x="838200" y="1193074"/>
            <a:ext cx="10515600" cy="4983889"/>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US" b="1" dirty="0">
                <a:solidFill>
                  <a:srgbClr val="336EA8"/>
                </a:solidFill>
              </a:rPr>
              <a:t>Programming Languages &amp; Tools</a:t>
            </a:r>
          </a:p>
          <a:p>
            <a:pPr marL="177800" lvl="0" indent="0" algn="l" rtl="0">
              <a:lnSpc>
                <a:spcPct val="90000"/>
              </a:lnSpc>
              <a:spcBef>
                <a:spcPts val="0"/>
              </a:spcBef>
              <a:spcAft>
                <a:spcPts val="0"/>
              </a:spcAft>
              <a:buClr>
                <a:schemeClr val="dk1"/>
              </a:buClr>
              <a:buSzPts val="2800"/>
              <a:buNone/>
            </a:pPr>
            <a:r>
              <a:rPr lang="en-US" sz="2000" dirty="0"/>
              <a:t>- Programming Languages : Python</a:t>
            </a:r>
          </a:p>
          <a:p>
            <a:pPr marL="177800" lvl="0" indent="0" algn="l" rtl="0">
              <a:lnSpc>
                <a:spcPct val="90000"/>
              </a:lnSpc>
              <a:spcBef>
                <a:spcPts val="0"/>
              </a:spcBef>
              <a:spcAft>
                <a:spcPts val="0"/>
              </a:spcAft>
              <a:buClr>
                <a:schemeClr val="dk1"/>
              </a:buClr>
              <a:buSzPts val="2800"/>
              <a:buNone/>
            </a:pPr>
            <a:r>
              <a:rPr lang="en-US" sz="2000" dirty="0"/>
              <a:t>- Libraries :</a:t>
            </a:r>
          </a:p>
          <a:p>
            <a:pPr marL="177800" lvl="0" indent="0" algn="l" rtl="0">
              <a:lnSpc>
                <a:spcPct val="90000"/>
              </a:lnSpc>
              <a:spcBef>
                <a:spcPts val="0"/>
              </a:spcBef>
              <a:spcAft>
                <a:spcPts val="0"/>
              </a:spcAft>
              <a:buClr>
                <a:schemeClr val="dk1"/>
              </a:buClr>
              <a:buSzPts val="2800"/>
              <a:buNone/>
            </a:pPr>
            <a:r>
              <a:rPr lang="en-US" sz="2000" dirty="0"/>
              <a:t>●Pandas</a:t>
            </a:r>
          </a:p>
          <a:p>
            <a:pPr marL="177800" lvl="0" indent="0" algn="l" rtl="0">
              <a:lnSpc>
                <a:spcPct val="90000"/>
              </a:lnSpc>
              <a:spcBef>
                <a:spcPts val="0"/>
              </a:spcBef>
              <a:spcAft>
                <a:spcPts val="0"/>
              </a:spcAft>
              <a:buClr>
                <a:schemeClr val="dk1"/>
              </a:buClr>
              <a:buSzPts val="2800"/>
              <a:buNone/>
            </a:pPr>
            <a:r>
              <a:rPr lang="en-US" sz="2000" dirty="0"/>
              <a:t>●NumPy</a:t>
            </a:r>
          </a:p>
          <a:p>
            <a:pPr marL="177800" lvl="0" indent="0" algn="l" rtl="0">
              <a:lnSpc>
                <a:spcPct val="90000"/>
              </a:lnSpc>
              <a:spcBef>
                <a:spcPts val="0"/>
              </a:spcBef>
              <a:spcAft>
                <a:spcPts val="0"/>
              </a:spcAft>
              <a:buClr>
                <a:schemeClr val="dk1"/>
              </a:buClr>
              <a:buSzPts val="2800"/>
              <a:buNone/>
            </a:pPr>
            <a:r>
              <a:rPr lang="en-US" sz="2000" dirty="0"/>
              <a:t>●Matplotlib</a:t>
            </a:r>
          </a:p>
          <a:p>
            <a:pPr marL="177800" lvl="0" indent="0" algn="l" rtl="0">
              <a:lnSpc>
                <a:spcPct val="90000"/>
              </a:lnSpc>
              <a:spcBef>
                <a:spcPts val="0"/>
              </a:spcBef>
              <a:spcAft>
                <a:spcPts val="0"/>
              </a:spcAft>
              <a:buClr>
                <a:schemeClr val="dk1"/>
              </a:buClr>
              <a:buSzPts val="2800"/>
              <a:buNone/>
            </a:pPr>
            <a:r>
              <a:rPr lang="en-US" sz="2000" dirty="0"/>
              <a:t>●Seaborn</a:t>
            </a:r>
          </a:p>
          <a:p>
            <a:pPr marL="177800" lvl="0" indent="0" algn="l" rtl="0">
              <a:lnSpc>
                <a:spcPct val="90000"/>
              </a:lnSpc>
              <a:spcBef>
                <a:spcPts val="0"/>
              </a:spcBef>
              <a:spcAft>
                <a:spcPts val="0"/>
              </a:spcAft>
              <a:buClr>
                <a:schemeClr val="dk1"/>
              </a:buClr>
              <a:buSzPts val="2800"/>
              <a:buNone/>
            </a:pPr>
            <a:r>
              <a:rPr lang="en-US" sz="2000" dirty="0"/>
              <a:t>●Scikit-learn</a:t>
            </a:r>
          </a:p>
          <a:p>
            <a:pPr marL="520700" lvl="0" algn="l" rtl="0">
              <a:lnSpc>
                <a:spcPct val="90000"/>
              </a:lnSpc>
              <a:spcBef>
                <a:spcPts val="0"/>
              </a:spcBef>
              <a:spcAft>
                <a:spcPts val="0"/>
              </a:spcAft>
              <a:buClr>
                <a:schemeClr val="dk1"/>
              </a:buClr>
              <a:buSzPts val="2800"/>
              <a:buFontTx/>
              <a:buChar char="-"/>
            </a:pPr>
            <a:r>
              <a:rPr lang="en-US" sz="2000" dirty="0"/>
              <a:t>Visualization : Power BI</a:t>
            </a:r>
          </a:p>
          <a:p>
            <a:pPr marL="520700" lvl="0" algn="l" rtl="0">
              <a:lnSpc>
                <a:spcPct val="90000"/>
              </a:lnSpc>
              <a:spcBef>
                <a:spcPts val="0"/>
              </a:spcBef>
              <a:spcAft>
                <a:spcPts val="0"/>
              </a:spcAft>
              <a:buClr>
                <a:schemeClr val="dk1"/>
              </a:buClr>
              <a:buSzPts val="2800"/>
              <a:buFontTx/>
              <a:buChar char="-"/>
            </a:pPr>
            <a:r>
              <a:rPr lang="en-US" sz="2000" dirty="0"/>
              <a:t>Development : Visual Studio Code</a:t>
            </a:r>
          </a:p>
          <a:p>
            <a:pPr marL="520700" lvl="0" algn="l" rtl="0">
              <a:lnSpc>
                <a:spcPct val="90000"/>
              </a:lnSpc>
              <a:spcBef>
                <a:spcPts val="0"/>
              </a:spcBef>
              <a:spcAft>
                <a:spcPts val="0"/>
              </a:spcAft>
              <a:buClr>
                <a:schemeClr val="dk1"/>
              </a:buClr>
              <a:buSzPts val="2800"/>
              <a:buFontTx/>
              <a:buChar char="-"/>
            </a:pPr>
            <a:r>
              <a:rPr lang="en-US" sz="2000" dirty="0"/>
              <a:t>Dataset : Kaggle</a:t>
            </a:r>
          </a:p>
          <a:p>
            <a:pPr marL="520700" lvl="0" algn="l" rtl="0">
              <a:lnSpc>
                <a:spcPct val="90000"/>
              </a:lnSpc>
              <a:spcBef>
                <a:spcPts val="0"/>
              </a:spcBef>
              <a:spcAft>
                <a:spcPts val="0"/>
              </a:spcAft>
              <a:buClr>
                <a:schemeClr val="dk1"/>
              </a:buClr>
              <a:buSzPts val="2800"/>
              <a:buFontTx/>
              <a:buChar char="-"/>
            </a:pPr>
            <a:r>
              <a:rPr lang="en-US" sz="2000" dirty="0"/>
              <a:t>Storage :</a:t>
            </a:r>
          </a:p>
          <a:p>
            <a:pPr marL="177800" lvl="0" indent="0" algn="l" rtl="0">
              <a:lnSpc>
                <a:spcPct val="90000"/>
              </a:lnSpc>
              <a:spcBef>
                <a:spcPts val="0"/>
              </a:spcBef>
              <a:spcAft>
                <a:spcPts val="0"/>
              </a:spcAft>
              <a:buClr>
                <a:schemeClr val="dk1"/>
              </a:buClr>
              <a:buSzPts val="2800"/>
              <a:buNone/>
            </a:pPr>
            <a:r>
              <a:rPr lang="en-US" sz="2000" dirty="0"/>
              <a:t>●CSV Files</a:t>
            </a:r>
          </a:p>
          <a:p>
            <a:pPr marL="177800" lvl="0" indent="0" algn="l" rtl="0">
              <a:lnSpc>
                <a:spcPct val="90000"/>
              </a:lnSpc>
              <a:spcBef>
                <a:spcPts val="0"/>
              </a:spcBef>
              <a:spcAft>
                <a:spcPts val="0"/>
              </a:spcAft>
              <a:buClr>
                <a:schemeClr val="dk1"/>
              </a:buClr>
              <a:buSzPts val="2800"/>
              <a:buNone/>
            </a:pPr>
            <a:r>
              <a:rPr lang="en-US" sz="2000" dirty="0"/>
              <a:t>●Star Schema</a:t>
            </a:r>
          </a:p>
          <a:p>
            <a:pPr marL="177800" lvl="0" indent="0" algn="l" rtl="0">
              <a:lnSpc>
                <a:spcPct val="90000"/>
              </a:lnSpc>
              <a:spcBef>
                <a:spcPts val="0"/>
              </a:spcBef>
              <a:spcAft>
                <a:spcPts val="0"/>
              </a:spcAft>
              <a:buClr>
                <a:schemeClr val="dk1"/>
              </a:buClr>
              <a:buSzPts val="2800"/>
              <a:buNone/>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228600" lvl="0" indent="-50800" algn="l" rtl="0">
              <a:lnSpc>
                <a:spcPct val="90000"/>
              </a:lnSpc>
              <a:spcBef>
                <a:spcPts val="0"/>
              </a:spcBef>
              <a:spcAft>
                <a:spcPts val="0"/>
              </a:spcAft>
              <a:buClr>
                <a:schemeClr val="dk1"/>
              </a:buClr>
              <a:buSzPts val="2800"/>
              <a:buNone/>
            </a:pPr>
            <a:endParaRPr sz="2000" b="1" dirty="0"/>
          </a:p>
        </p:txBody>
      </p:sp>
      <p:sp>
        <p:nvSpPr>
          <p:cNvPr id="215" name="Google Shape;215;p11">
            <a:extLst>
              <a:ext uri="{FF2B5EF4-FFF2-40B4-BE49-F238E27FC236}">
                <a16:creationId xmlns:a16="http://schemas.microsoft.com/office/drawing/2014/main" id="{620EC08C-F91A-E815-EC6D-BF582FFA0CEF}"/>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16" name="Google Shape;216;p11">
            <a:extLst>
              <a:ext uri="{FF2B5EF4-FFF2-40B4-BE49-F238E27FC236}">
                <a16:creationId xmlns:a16="http://schemas.microsoft.com/office/drawing/2014/main" id="{27966F98-1616-BEB0-D758-3333C27A60A6}"/>
              </a:ext>
            </a:extLst>
          </p:cNvPr>
          <p:cNvSpPr txBox="1">
            <a:spLocks noGrp="1"/>
          </p:cNvSpPr>
          <p:nvPr>
            <p:ph type="ftr" idx="11"/>
          </p:nvPr>
        </p:nvSpPr>
        <p:spPr>
          <a:xfrm>
            <a:off x="3880338" y="7130144"/>
            <a:ext cx="1684439" cy="4571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17" name="Google Shape;217;p11">
            <a:extLst>
              <a:ext uri="{FF2B5EF4-FFF2-40B4-BE49-F238E27FC236}">
                <a16:creationId xmlns:a16="http://schemas.microsoft.com/office/drawing/2014/main" id="{EE78063F-2551-155C-D402-E261A46957A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8</a:t>
            </a:r>
            <a:endParaRPr dirty="0"/>
          </a:p>
        </p:txBody>
      </p:sp>
      <p:pic>
        <p:nvPicPr>
          <p:cNvPr id="2" name="Google Shape;110;p1">
            <a:extLst>
              <a:ext uri="{FF2B5EF4-FFF2-40B4-BE49-F238E27FC236}">
                <a16:creationId xmlns:a16="http://schemas.microsoft.com/office/drawing/2014/main" id="{81B10695-D3C0-E082-307A-B694E211E418}"/>
              </a:ext>
            </a:extLst>
          </p:cNvPr>
          <p:cNvPicPr preferRelativeResize="0"/>
          <p:nvPr/>
        </p:nvPicPr>
        <p:blipFill>
          <a:blip r:embed="rId3"/>
          <a:srcRect/>
          <a:stretch/>
        </p:blipFill>
        <p:spPr>
          <a:xfrm>
            <a:off x="9010943" y="6291124"/>
            <a:ext cx="1362250" cy="365125"/>
          </a:xfrm>
          <a:prstGeom prst="rect">
            <a:avLst/>
          </a:prstGeom>
          <a:noFill/>
          <a:ln>
            <a:noFill/>
          </a:ln>
        </p:spPr>
      </p:pic>
      <p:pic>
        <p:nvPicPr>
          <p:cNvPr id="4" name="Picture 3">
            <a:extLst>
              <a:ext uri="{FF2B5EF4-FFF2-40B4-BE49-F238E27FC236}">
                <a16:creationId xmlns:a16="http://schemas.microsoft.com/office/drawing/2014/main" id="{B3B916BB-BDD9-6AC6-A955-A94D52433876}"/>
              </a:ext>
            </a:extLst>
          </p:cNvPr>
          <p:cNvPicPr>
            <a:picLocks noChangeAspect="1"/>
          </p:cNvPicPr>
          <p:nvPr/>
        </p:nvPicPr>
        <p:blipFill>
          <a:blip r:embed="rId4"/>
          <a:stretch>
            <a:fillRect/>
          </a:stretch>
        </p:blipFill>
        <p:spPr>
          <a:xfrm>
            <a:off x="8273143" y="1243148"/>
            <a:ext cx="1454331" cy="1395549"/>
          </a:xfrm>
          <a:prstGeom prst="rect">
            <a:avLst/>
          </a:prstGeom>
        </p:spPr>
      </p:pic>
      <p:pic>
        <p:nvPicPr>
          <p:cNvPr id="6" name="Picture 5">
            <a:extLst>
              <a:ext uri="{FF2B5EF4-FFF2-40B4-BE49-F238E27FC236}">
                <a16:creationId xmlns:a16="http://schemas.microsoft.com/office/drawing/2014/main" id="{6A89AEA5-9F67-F1B0-5FC2-75E56A3BAFDA}"/>
              </a:ext>
            </a:extLst>
          </p:cNvPr>
          <p:cNvPicPr>
            <a:picLocks noChangeAspect="1"/>
          </p:cNvPicPr>
          <p:nvPr/>
        </p:nvPicPr>
        <p:blipFill>
          <a:blip r:embed="rId5"/>
          <a:stretch>
            <a:fillRect/>
          </a:stretch>
        </p:blipFill>
        <p:spPr>
          <a:xfrm>
            <a:off x="8284029" y="2703923"/>
            <a:ext cx="1698171" cy="1245326"/>
          </a:xfrm>
          <a:prstGeom prst="rect">
            <a:avLst/>
          </a:prstGeom>
        </p:spPr>
      </p:pic>
      <p:pic>
        <p:nvPicPr>
          <p:cNvPr id="8" name="Picture 7">
            <a:extLst>
              <a:ext uri="{FF2B5EF4-FFF2-40B4-BE49-F238E27FC236}">
                <a16:creationId xmlns:a16="http://schemas.microsoft.com/office/drawing/2014/main" id="{1FDF4CC4-F3F9-67A2-E7BA-3D90DC6EC077}"/>
              </a:ext>
            </a:extLst>
          </p:cNvPr>
          <p:cNvPicPr>
            <a:picLocks noChangeAspect="1"/>
          </p:cNvPicPr>
          <p:nvPr/>
        </p:nvPicPr>
        <p:blipFill>
          <a:blip r:embed="rId6"/>
          <a:stretch>
            <a:fillRect/>
          </a:stretch>
        </p:blipFill>
        <p:spPr>
          <a:xfrm>
            <a:off x="8178188" y="4063410"/>
            <a:ext cx="2289515" cy="1601516"/>
          </a:xfrm>
          <a:prstGeom prst="rect">
            <a:avLst/>
          </a:prstGeom>
        </p:spPr>
      </p:pic>
    </p:spTree>
    <p:extLst>
      <p:ext uri="{BB962C8B-B14F-4D97-AF65-F5344CB8AC3E}">
        <p14:creationId xmlns:p14="http://schemas.microsoft.com/office/powerpoint/2010/main" val="3902066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2DDC27F5-4987-CEA2-A5CA-83D339863AD7}"/>
            </a:ext>
          </a:extLst>
        </p:cNvPr>
        <p:cNvGrpSpPr/>
        <p:nvPr/>
      </p:nvGrpSpPr>
      <p:grpSpPr>
        <a:xfrm>
          <a:off x="0" y="0"/>
          <a:ext cx="0" cy="0"/>
          <a:chOff x="0" y="0"/>
          <a:chExt cx="0" cy="0"/>
        </a:xfrm>
      </p:grpSpPr>
      <p:sp>
        <p:nvSpPr>
          <p:cNvPr id="214" name="Google Shape;214;p11">
            <a:extLst>
              <a:ext uri="{FF2B5EF4-FFF2-40B4-BE49-F238E27FC236}">
                <a16:creationId xmlns:a16="http://schemas.microsoft.com/office/drawing/2014/main" id="{521535D3-4314-F420-E11C-4CD5952344C7}"/>
              </a:ext>
            </a:extLst>
          </p:cNvPr>
          <p:cNvSpPr txBox="1">
            <a:spLocks noGrp="1"/>
          </p:cNvSpPr>
          <p:nvPr>
            <p:ph type="body" idx="1"/>
          </p:nvPr>
        </p:nvSpPr>
        <p:spPr>
          <a:xfrm>
            <a:off x="838200" y="1193074"/>
            <a:ext cx="10515600" cy="4983889"/>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US" sz="4000" b="1" dirty="0">
                <a:solidFill>
                  <a:srgbClr val="336EA8"/>
                </a:solidFill>
              </a:rPr>
              <a:t>Live Application</a:t>
            </a:r>
          </a:p>
          <a:p>
            <a:pPr marL="177800" lvl="0" indent="0" algn="l" rtl="0">
              <a:lnSpc>
                <a:spcPct val="90000"/>
              </a:lnSpc>
              <a:spcBef>
                <a:spcPts val="0"/>
              </a:spcBef>
              <a:spcAft>
                <a:spcPts val="0"/>
              </a:spcAft>
              <a:buClr>
                <a:schemeClr val="dk1"/>
              </a:buClr>
              <a:buSzPts val="2800"/>
              <a:buNone/>
            </a:pPr>
            <a:r>
              <a:rPr lang="en-US" b="1" dirty="0"/>
              <a:t>Project Status</a:t>
            </a:r>
          </a:p>
          <a:p>
            <a:pPr marL="520700" lvl="0" algn="l" rtl="0">
              <a:lnSpc>
                <a:spcPct val="90000"/>
              </a:lnSpc>
              <a:spcBef>
                <a:spcPts val="0"/>
              </a:spcBef>
              <a:spcAft>
                <a:spcPts val="0"/>
              </a:spcAft>
              <a:buClr>
                <a:schemeClr val="dk1"/>
              </a:buClr>
              <a:buSzPts val="2800"/>
              <a:buFont typeface="Wingdings" panose="05000000000000000000" pitchFamily="2" charset="2"/>
              <a:buChar char="ü"/>
            </a:pPr>
            <a:r>
              <a:rPr lang="en-US" dirty="0"/>
              <a:t>Data Pipeline Completed</a:t>
            </a:r>
          </a:p>
          <a:p>
            <a:pPr marL="520700" lvl="0" algn="l" rtl="0">
              <a:lnSpc>
                <a:spcPct val="90000"/>
              </a:lnSpc>
              <a:spcBef>
                <a:spcPts val="0"/>
              </a:spcBef>
              <a:spcAft>
                <a:spcPts val="0"/>
              </a:spcAft>
              <a:buClr>
                <a:schemeClr val="dk1"/>
              </a:buClr>
              <a:buSzPts val="2800"/>
              <a:buFont typeface="Wingdings" panose="05000000000000000000" pitchFamily="2" charset="2"/>
              <a:buChar char="ü"/>
            </a:pPr>
            <a:r>
              <a:rPr lang="en-US" dirty="0"/>
              <a:t> Feature Engineering Completed</a:t>
            </a:r>
          </a:p>
          <a:p>
            <a:pPr marL="520700" lvl="0" algn="l" rtl="0">
              <a:lnSpc>
                <a:spcPct val="90000"/>
              </a:lnSpc>
              <a:spcBef>
                <a:spcPts val="0"/>
              </a:spcBef>
              <a:spcAft>
                <a:spcPts val="0"/>
              </a:spcAft>
              <a:buClr>
                <a:schemeClr val="dk1"/>
              </a:buClr>
              <a:buSzPts val="2800"/>
              <a:buFont typeface="Wingdings" panose="05000000000000000000" pitchFamily="2" charset="2"/>
              <a:buChar char="ü"/>
            </a:pPr>
            <a:r>
              <a:rPr lang="en-US" dirty="0"/>
              <a:t>Data Warehouse Completed</a:t>
            </a:r>
          </a:p>
          <a:p>
            <a:pPr marL="520700" lvl="0" algn="l" rtl="0">
              <a:lnSpc>
                <a:spcPct val="90000"/>
              </a:lnSpc>
              <a:spcBef>
                <a:spcPts val="0"/>
              </a:spcBef>
              <a:spcAft>
                <a:spcPts val="0"/>
              </a:spcAft>
              <a:buClr>
                <a:schemeClr val="dk1"/>
              </a:buClr>
              <a:buSzPts val="2800"/>
              <a:buFont typeface="Wingdings" panose="05000000000000000000" pitchFamily="2" charset="2"/>
              <a:buChar char="ü"/>
            </a:pPr>
            <a:r>
              <a:rPr lang="en-US" dirty="0"/>
              <a:t> Power BI Dashboard Completed</a:t>
            </a:r>
          </a:p>
          <a:p>
            <a:pPr marL="520700" lvl="0" algn="l" rtl="0">
              <a:lnSpc>
                <a:spcPct val="90000"/>
              </a:lnSpc>
              <a:spcBef>
                <a:spcPts val="0"/>
              </a:spcBef>
              <a:spcAft>
                <a:spcPts val="0"/>
              </a:spcAft>
              <a:buClr>
                <a:schemeClr val="dk1"/>
              </a:buClr>
              <a:buSzPts val="2800"/>
              <a:buFont typeface="Wingdings" panose="05000000000000000000" pitchFamily="2" charset="2"/>
              <a:buChar char="ü"/>
            </a:pPr>
            <a:r>
              <a:rPr lang="en-US" dirty="0"/>
              <a:t>Machine Learning Model Completed</a:t>
            </a:r>
          </a:p>
          <a:p>
            <a:pPr marL="177800" lvl="0" indent="0" algn="l" rtl="0">
              <a:lnSpc>
                <a:spcPct val="90000"/>
              </a:lnSpc>
              <a:spcBef>
                <a:spcPts val="0"/>
              </a:spcBef>
              <a:spcAft>
                <a:spcPts val="0"/>
              </a:spcAft>
              <a:buClr>
                <a:schemeClr val="dk1"/>
              </a:buClr>
              <a:buSzPts val="2800"/>
              <a:buNone/>
            </a:pPr>
            <a:endParaRPr lang="en-US" dirty="0"/>
          </a:p>
          <a:p>
            <a:pPr marL="520700" lvl="0" algn="l" rtl="0">
              <a:lnSpc>
                <a:spcPct val="90000"/>
              </a:lnSpc>
              <a:spcBef>
                <a:spcPts val="0"/>
              </a:spcBef>
              <a:spcAft>
                <a:spcPts val="0"/>
              </a:spcAft>
              <a:buClr>
                <a:schemeClr val="dk1"/>
              </a:buClr>
              <a:buSzPts val="2800"/>
              <a:buFont typeface="Wingdings" panose="05000000000000000000" pitchFamily="2" charset="2"/>
              <a:buChar char="ü"/>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228600" lvl="0" indent="-50800" algn="l" rtl="0">
              <a:lnSpc>
                <a:spcPct val="90000"/>
              </a:lnSpc>
              <a:spcBef>
                <a:spcPts val="0"/>
              </a:spcBef>
              <a:spcAft>
                <a:spcPts val="0"/>
              </a:spcAft>
              <a:buClr>
                <a:schemeClr val="dk1"/>
              </a:buClr>
              <a:buSzPts val="2800"/>
              <a:buNone/>
            </a:pPr>
            <a:endParaRPr sz="2000" b="1" dirty="0"/>
          </a:p>
        </p:txBody>
      </p:sp>
      <p:sp>
        <p:nvSpPr>
          <p:cNvPr id="215" name="Google Shape;215;p11">
            <a:extLst>
              <a:ext uri="{FF2B5EF4-FFF2-40B4-BE49-F238E27FC236}">
                <a16:creationId xmlns:a16="http://schemas.microsoft.com/office/drawing/2014/main" id="{756550D8-D658-E77C-6332-0AA5D0573349}"/>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16" name="Google Shape;216;p11">
            <a:extLst>
              <a:ext uri="{FF2B5EF4-FFF2-40B4-BE49-F238E27FC236}">
                <a16:creationId xmlns:a16="http://schemas.microsoft.com/office/drawing/2014/main" id="{9E9A2C99-802E-274C-5B87-1947AEFBD21E}"/>
              </a:ext>
            </a:extLst>
          </p:cNvPr>
          <p:cNvSpPr txBox="1">
            <a:spLocks noGrp="1"/>
          </p:cNvSpPr>
          <p:nvPr>
            <p:ph type="ftr" idx="11"/>
          </p:nvPr>
        </p:nvSpPr>
        <p:spPr>
          <a:xfrm>
            <a:off x="3880338" y="7106194"/>
            <a:ext cx="2337582" cy="148046"/>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17" name="Google Shape;217;p11">
            <a:extLst>
              <a:ext uri="{FF2B5EF4-FFF2-40B4-BE49-F238E27FC236}">
                <a16:creationId xmlns:a16="http://schemas.microsoft.com/office/drawing/2014/main" id="{E71E678E-584A-3F39-3E2C-2F460E65BB6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9</a:t>
            </a:r>
            <a:endParaRPr dirty="0"/>
          </a:p>
        </p:txBody>
      </p:sp>
      <p:pic>
        <p:nvPicPr>
          <p:cNvPr id="2" name="Google Shape;110;p1">
            <a:extLst>
              <a:ext uri="{FF2B5EF4-FFF2-40B4-BE49-F238E27FC236}">
                <a16:creationId xmlns:a16="http://schemas.microsoft.com/office/drawing/2014/main" id="{0E9E8AF5-C581-F0CD-9D85-3E5C058F274B}"/>
              </a:ext>
            </a:extLst>
          </p:cNvPr>
          <p:cNvPicPr preferRelativeResize="0"/>
          <p:nvPr/>
        </p:nvPicPr>
        <p:blipFill>
          <a:blip r:embed="rId3"/>
          <a:srcRect/>
          <a:stretch/>
        </p:blipFill>
        <p:spPr>
          <a:xfrm>
            <a:off x="9010943" y="6291124"/>
            <a:ext cx="1362250" cy="365125"/>
          </a:xfrm>
          <a:prstGeom prst="rect">
            <a:avLst/>
          </a:prstGeom>
          <a:noFill/>
          <a:ln>
            <a:noFill/>
          </a:ln>
        </p:spPr>
      </p:pic>
      <p:pic>
        <p:nvPicPr>
          <p:cNvPr id="6" name="Picture 5">
            <a:extLst>
              <a:ext uri="{FF2B5EF4-FFF2-40B4-BE49-F238E27FC236}">
                <a16:creationId xmlns:a16="http://schemas.microsoft.com/office/drawing/2014/main" id="{BC04CF6B-CD30-5418-2BB7-31B367E8F289}"/>
              </a:ext>
            </a:extLst>
          </p:cNvPr>
          <p:cNvPicPr>
            <a:picLocks noChangeAspect="1"/>
          </p:cNvPicPr>
          <p:nvPr/>
        </p:nvPicPr>
        <p:blipFill>
          <a:blip r:embed="rId4"/>
          <a:stretch>
            <a:fillRect/>
          </a:stretch>
        </p:blipFill>
        <p:spPr>
          <a:xfrm>
            <a:off x="7010400" y="1323313"/>
            <a:ext cx="4693920" cy="3333616"/>
          </a:xfrm>
          <a:prstGeom prst="rect">
            <a:avLst/>
          </a:prstGeom>
        </p:spPr>
      </p:pic>
    </p:spTree>
    <p:extLst>
      <p:ext uri="{BB962C8B-B14F-4D97-AF65-F5344CB8AC3E}">
        <p14:creationId xmlns:p14="http://schemas.microsoft.com/office/powerpoint/2010/main" val="2855874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4423C5E4-1E2A-F836-9FBC-0D142FA72030}"/>
            </a:ext>
          </a:extLst>
        </p:cNvPr>
        <p:cNvGrpSpPr/>
        <p:nvPr/>
      </p:nvGrpSpPr>
      <p:grpSpPr>
        <a:xfrm>
          <a:off x="0" y="0"/>
          <a:ext cx="0" cy="0"/>
          <a:chOff x="0" y="0"/>
          <a:chExt cx="0" cy="0"/>
        </a:xfrm>
      </p:grpSpPr>
      <p:sp>
        <p:nvSpPr>
          <p:cNvPr id="214" name="Google Shape;214;p11">
            <a:extLst>
              <a:ext uri="{FF2B5EF4-FFF2-40B4-BE49-F238E27FC236}">
                <a16:creationId xmlns:a16="http://schemas.microsoft.com/office/drawing/2014/main" id="{72BE5161-7C74-7634-9CA0-7D6BA5E687B4}"/>
              </a:ext>
            </a:extLst>
          </p:cNvPr>
          <p:cNvSpPr txBox="1">
            <a:spLocks noGrp="1"/>
          </p:cNvSpPr>
          <p:nvPr>
            <p:ph type="body" idx="1"/>
          </p:nvPr>
        </p:nvSpPr>
        <p:spPr>
          <a:xfrm>
            <a:off x="838200" y="1193074"/>
            <a:ext cx="4787537" cy="4983889"/>
          </a:xfrm>
          <a:prstGeom prst="rect">
            <a:avLst/>
          </a:prstGeom>
          <a:noFill/>
          <a:ln>
            <a:noFill/>
          </a:ln>
        </p:spPr>
        <p:txBody>
          <a:bodyPr spcFirstLastPara="1" wrap="square" lIns="91425" tIns="45700" rIns="91425" bIns="45700" anchor="t" anchorCtr="0">
            <a:normAutofit/>
          </a:bodyPr>
          <a:lstStyle/>
          <a:p>
            <a:pPr marL="177800" lvl="0" indent="0" algn="l" rtl="0">
              <a:lnSpc>
                <a:spcPct val="90000"/>
              </a:lnSpc>
              <a:spcBef>
                <a:spcPts val="0"/>
              </a:spcBef>
              <a:spcAft>
                <a:spcPts val="0"/>
              </a:spcAft>
              <a:buClr>
                <a:schemeClr val="dk1"/>
              </a:buClr>
              <a:buSzPts val="2800"/>
              <a:buNone/>
            </a:pPr>
            <a:r>
              <a:rPr lang="en-US" b="1" dirty="0">
                <a:solidFill>
                  <a:srgbClr val="336EA8"/>
                </a:solidFill>
              </a:rPr>
              <a:t>Deliverables</a:t>
            </a:r>
          </a:p>
          <a:p>
            <a:pPr marL="177800" lvl="0" indent="0" algn="l" rtl="0">
              <a:lnSpc>
                <a:spcPct val="90000"/>
              </a:lnSpc>
              <a:spcBef>
                <a:spcPts val="0"/>
              </a:spcBef>
              <a:spcAft>
                <a:spcPts val="0"/>
              </a:spcAft>
              <a:buClr>
                <a:schemeClr val="dk1"/>
              </a:buClr>
              <a:buSzPts val="2800"/>
              <a:buNone/>
            </a:pPr>
            <a:r>
              <a:rPr lang="en-US" sz="2000" dirty="0">
                <a:solidFill>
                  <a:srgbClr val="D7B119"/>
                </a:solidFill>
              </a:rPr>
              <a:t>01 Data Pipeline :</a:t>
            </a:r>
          </a:p>
          <a:p>
            <a:pPr marL="177800" lvl="0" indent="0" algn="l" rtl="0">
              <a:lnSpc>
                <a:spcPct val="90000"/>
              </a:lnSpc>
              <a:spcBef>
                <a:spcPts val="0"/>
              </a:spcBef>
              <a:spcAft>
                <a:spcPts val="0"/>
              </a:spcAft>
              <a:buClr>
                <a:schemeClr val="dk1"/>
              </a:buClr>
              <a:buSzPts val="2800"/>
              <a:buNone/>
            </a:pPr>
            <a:r>
              <a:rPr lang="en-US" sz="2000" dirty="0"/>
              <a:t>●Bronze Layer— Raw  data (391510 rows, 12 cols)</a:t>
            </a:r>
          </a:p>
          <a:p>
            <a:pPr marL="177800" lvl="0" indent="0" algn="l" rtl="0">
              <a:lnSpc>
                <a:spcPct val="90000"/>
              </a:lnSpc>
              <a:spcBef>
                <a:spcPts val="0"/>
              </a:spcBef>
              <a:spcAft>
                <a:spcPts val="0"/>
              </a:spcAft>
              <a:buClr>
                <a:schemeClr val="dk1"/>
              </a:buClr>
              <a:buSzPts val="2800"/>
              <a:buNone/>
            </a:pPr>
            <a:r>
              <a:rPr lang="en-US" sz="2000" dirty="0"/>
              <a:t>●Silver Layer— Cleaned data (391385 rows, 35 cols)</a:t>
            </a:r>
          </a:p>
          <a:p>
            <a:pPr marL="177800" lvl="0" indent="0" algn="l" rtl="0">
              <a:lnSpc>
                <a:spcPct val="90000"/>
              </a:lnSpc>
              <a:spcBef>
                <a:spcPts val="0"/>
              </a:spcBef>
              <a:spcAft>
                <a:spcPts val="0"/>
              </a:spcAft>
              <a:buClr>
                <a:schemeClr val="dk1"/>
              </a:buClr>
              <a:buSzPts val="2800"/>
              <a:buNone/>
            </a:pPr>
            <a:r>
              <a:rPr lang="en-US" sz="2000" dirty="0"/>
              <a:t>●Gold Layer— Delta Star Schema (1 fact + 2 dims)</a:t>
            </a:r>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r>
              <a:rPr lang="en-US" sz="2000" dirty="0">
                <a:solidFill>
                  <a:srgbClr val="D7B119"/>
                </a:solidFill>
              </a:rPr>
              <a:t>02 Power BI Dashboard :</a:t>
            </a:r>
          </a:p>
          <a:p>
            <a:pPr marL="177800" lvl="0" indent="0" algn="l" rtl="0">
              <a:lnSpc>
                <a:spcPct val="90000"/>
              </a:lnSpc>
              <a:spcBef>
                <a:spcPts val="0"/>
              </a:spcBef>
              <a:spcAft>
                <a:spcPts val="0"/>
              </a:spcAft>
              <a:buClr>
                <a:schemeClr val="dk1"/>
              </a:buClr>
              <a:buSzPts val="2800"/>
              <a:buNone/>
            </a:pPr>
            <a:r>
              <a:rPr lang="en-US" sz="2000" dirty="0"/>
              <a:t>● 6-Page Interactive Dashboard</a:t>
            </a:r>
          </a:p>
          <a:p>
            <a:pPr marL="177800" lvl="0" indent="0" algn="l" rtl="0">
              <a:lnSpc>
                <a:spcPct val="90000"/>
              </a:lnSpc>
              <a:spcBef>
                <a:spcPts val="0"/>
              </a:spcBef>
              <a:spcAft>
                <a:spcPts val="0"/>
              </a:spcAft>
              <a:buClr>
                <a:schemeClr val="dk1"/>
              </a:buClr>
              <a:buSzPts val="2800"/>
              <a:buNone/>
            </a:pPr>
            <a:r>
              <a:rPr lang="en-US" sz="2000" dirty="0"/>
              <a:t>●KPI Cards</a:t>
            </a:r>
          </a:p>
          <a:p>
            <a:pPr marL="177800" lvl="0" indent="0" algn="l" rtl="0">
              <a:lnSpc>
                <a:spcPct val="90000"/>
              </a:lnSpc>
              <a:spcBef>
                <a:spcPts val="0"/>
              </a:spcBef>
              <a:spcAft>
                <a:spcPts val="0"/>
              </a:spcAft>
              <a:buClr>
                <a:schemeClr val="dk1"/>
              </a:buClr>
              <a:buSzPts val="2800"/>
              <a:buNone/>
            </a:pPr>
            <a:r>
              <a:rPr lang="en-US" sz="2000" dirty="0"/>
              <a:t>●Charts</a:t>
            </a:r>
          </a:p>
          <a:p>
            <a:pPr marL="177800" lvl="0" indent="0" algn="l" rtl="0">
              <a:lnSpc>
                <a:spcPct val="90000"/>
              </a:lnSpc>
              <a:spcBef>
                <a:spcPts val="0"/>
              </a:spcBef>
              <a:spcAft>
                <a:spcPts val="0"/>
              </a:spcAft>
              <a:buClr>
                <a:schemeClr val="dk1"/>
              </a:buClr>
              <a:buSzPts val="2800"/>
              <a:buNone/>
            </a:pPr>
            <a:r>
              <a:rPr lang="en-US" sz="2000" dirty="0"/>
              <a:t>●Slicers</a:t>
            </a:r>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177800" lvl="0" indent="0" algn="l" rtl="0">
              <a:lnSpc>
                <a:spcPct val="90000"/>
              </a:lnSpc>
              <a:spcBef>
                <a:spcPts val="0"/>
              </a:spcBef>
              <a:spcAft>
                <a:spcPts val="0"/>
              </a:spcAft>
              <a:buClr>
                <a:schemeClr val="dk1"/>
              </a:buClr>
              <a:buSzPts val="2800"/>
              <a:buNone/>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520700" lvl="0" algn="l" rtl="0">
              <a:lnSpc>
                <a:spcPct val="90000"/>
              </a:lnSpc>
              <a:spcBef>
                <a:spcPts val="0"/>
              </a:spcBef>
              <a:spcAft>
                <a:spcPts val="0"/>
              </a:spcAft>
              <a:buClr>
                <a:schemeClr val="dk1"/>
              </a:buClr>
              <a:buSzPts val="2800"/>
              <a:buFontTx/>
              <a:buChar char="-"/>
            </a:pPr>
            <a:endParaRPr lang="en-US" sz="2000" dirty="0"/>
          </a:p>
          <a:p>
            <a:pPr marL="228600" lvl="0" indent="-50800" algn="l" rtl="0">
              <a:lnSpc>
                <a:spcPct val="90000"/>
              </a:lnSpc>
              <a:spcBef>
                <a:spcPts val="0"/>
              </a:spcBef>
              <a:spcAft>
                <a:spcPts val="0"/>
              </a:spcAft>
              <a:buClr>
                <a:schemeClr val="dk1"/>
              </a:buClr>
              <a:buSzPts val="2800"/>
              <a:buNone/>
            </a:pPr>
            <a:endParaRPr sz="2000" b="1" dirty="0"/>
          </a:p>
        </p:txBody>
      </p:sp>
      <p:sp>
        <p:nvSpPr>
          <p:cNvPr id="215" name="Google Shape;215;p11">
            <a:extLst>
              <a:ext uri="{FF2B5EF4-FFF2-40B4-BE49-F238E27FC236}">
                <a16:creationId xmlns:a16="http://schemas.microsoft.com/office/drawing/2014/main" id="{0EAC339A-AF93-96A4-CFA2-3C4158B9F43D}"/>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16" name="Google Shape;216;p11">
            <a:extLst>
              <a:ext uri="{FF2B5EF4-FFF2-40B4-BE49-F238E27FC236}">
                <a16:creationId xmlns:a16="http://schemas.microsoft.com/office/drawing/2014/main" id="{B5A01516-F0E4-7B36-6558-23E0C8DF28E4}"/>
              </a:ext>
            </a:extLst>
          </p:cNvPr>
          <p:cNvSpPr txBox="1">
            <a:spLocks noGrp="1"/>
          </p:cNvSpPr>
          <p:nvPr>
            <p:ph type="ftr" idx="11"/>
          </p:nvPr>
        </p:nvSpPr>
        <p:spPr>
          <a:xfrm flipV="1">
            <a:off x="3880338" y="7175863"/>
            <a:ext cx="2494336" cy="4571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17" name="Google Shape;217;p11">
            <a:extLst>
              <a:ext uri="{FF2B5EF4-FFF2-40B4-BE49-F238E27FC236}">
                <a16:creationId xmlns:a16="http://schemas.microsoft.com/office/drawing/2014/main" id="{CFB7E4C4-1628-EF7E-8B35-351721FE6DD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10</a:t>
            </a:r>
            <a:endParaRPr dirty="0"/>
          </a:p>
        </p:txBody>
      </p:sp>
      <p:pic>
        <p:nvPicPr>
          <p:cNvPr id="2" name="Google Shape;110;p1">
            <a:extLst>
              <a:ext uri="{FF2B5EF4-FFF2-40B4-BE49-F238E27FC236}">
                <a16:creationId xmlns:a16="http://schemas.microsoft.com/office/drawing/2014/main" id="{1AE07EF7-D003-BF22-96C0-41E5650340AA}"/>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2EE1F299-6D51-7284-F024-D9DEE8631FBD}"/>
              </a:ext>
            </a:extLst>
          </p:cNvPr>
          <p:cNvSpPr txBox="1"/>
          <p:nvPr/>
        </p:nvSpPr>
        <p:spPr>
          <a:xfrm>
            <a:off x="5756366" y="1193074"/>
            <a:ext cx="5405846" cy="3785652"/>
          </a:xfrm>
          <a:prstGeom prst="rect">
            <a:avLst/>
          </a:prstGeom>
          <a:noFill/>
        </p:spPr>
        <p:txBody>
          <a:bodyPr wrap="square" rtlCol="0">
            <a:spAutoFit/>
          </a:bodyPr>
          <a:lstStyle/>
          <a:p>
            <a:r>
              <a:rPr lang="en-US" sz="2000" dirty="0">
                <a:solidFill>
                  <a:srgbClr val="D7B119"/>
                </a:solidFill>
              </a:rPr>
              <a:t>03 Machine Learning :</a:t>
            </a:r>
          </a:p>
          <a:p>
            <a:r>
              <a:rPr lang="en-US" sz="2000" dirty="0"/>
              <a:t>●Predictions By Timeframe</a:t>
            </a:r>
            <a:br>
              <a:rPr lang="en-US" sz="2000" dirty="0"/>
            </a:br>
            <a:r>
              <a:rPr lang="en-US" sz="2000" dirty="0"/>
              <a:t>●Confusion Matrix</a:t>
            </a:r>
            <a:br>
              <a:rPr lang="en-US" sz="2000" dirty="0"/>
            </a:br>
            <a:r>
              <a:rPr lang="en-US" sz="2000" dirty="0"/>
              <a:t>●Confidence Score</a:t>
            </a:r>
            <a:br>
              <a:rPr lang="en-US" sz="2000" dirty="0"/>
            </a:br>
            <a:r>
              <a:rPr lang="en-US" sz="2000" dirty="0"/>
              <a:t>●Feature Importance</a:t>
            </a:r>
          </a:p>
          <a:p>
            <a:endParaRPr lang="en-US" sz="2000" dirty="0"/>
          </a:p>
          <a:p>
            <a:r>
              <a:rPr lang="fr-FR" sz="2000" dirty="0">
                <a:solidFill>
                  <a:srgbClr val="D7B119"/>
                </a:solidFill>
              </a:rPr>
              <a:t>04 Documentation</a:t>
            </a:r>
          </a:p>
          <a:p>
            <a:r>
              <a:rPr lang="fr-FR" sz="2000" dirty="0"/>
              <a:t>●Project Documentation</a:t>
            </a:r>
          </a:p>
          <a:p>
            <a:r>
              <a:rPr lang="fr-FR" sz="2000" dirty="0"/>
              <a:t>●Source Code</a:t>
            </a:r>
          </a:p>
          <a:p>
            <a:r>
              <a:rPr lang="fr-FR" sz="2000" dirty="0"/>
              <a:t>● </a:t>
            </a:r>
            <a:r>
              <a:rPr lang="fr-FR" sz="2000" dirty="0" err="1"/>
              <a:t>Presentation</a:t>
            </a:r>
            <a:endParaRPr lang="fr-FR" sz="2000" dirty="0"/>
          </a:p>
          <a:p>
            <a:endParaRPr lang="en-US" sz="2000" dirty="0"/>
          </a:p>
          <a:p>
            <a:endParaRPr lang="en-US" sz="2000" dirty="0"/>
          </a:p>
        </p:txBody>
      </p:sp>
    </p:spTree>
    <p:extLst>
      <p:ext uri="{BB962C8B-B14F-4D97-AF65-F5344CB8AC3E}">
        <p14:creationId xmlns:p14="http://schemas.microsoft.com/office/powerpoint/2010/main" val="1125602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24" name="Google Shape;224;p12"/>
          <p:cNvSpPr txBox="1">
            <a:spLocks noGrp="1"/>
          </p:cNvSpPr>
          <p:nvPr>
            <p:ph type="ftr" idx="11"/>
          </p:nvPr>
        </p:nvSpPr>
        <p:spPr>
          <a:xfrm flipV="1">
            <a:off x="3880338" y="7036525"/>
            <a:ext cx="2215662" cy="4571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25" name="Google Shape;22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11</a:t>
            </a:r>
            <a:endParaRPr dirty="0"/>
          </a:p>
        </p:txBody>
      </p:sp>
      <p:pic>
        <p:nvPicPr>
          <p:cNvPr id="2" name="Google Shape;110;p1">
            <a:extLst>
              <a:ext uri="{FF2B5EF4-FFF2-40B4-BE49-F238E27FC236}">
                <a16:creationId xmlns:a16="http://schemas.microsoft.com/office/drawing/2014/main" id="{58C33320-60ED-A251-AB49-C1349DCD930A}"/>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E3D82ACD-2651-365D-67C6-7EDC20099F6D}"/>
              </a:ext>
            </a:extLst>
          </p:cNvPr>
          <p:cNvSpPr txBox="1"/>
          <p:nvPr/>
        </p:nvSpPr>
        <p:spPr>
          <a:xfrm>
            <a:off x="1550125" y="853440"/>
            <a:ext cx="5172892" cy="1138773"/>
          </a:xfrm>
          <a:prstGeom prst="rect">
            <a:avLst/>
          </a:prstGeom>
          <a:noFill/>
        </p:spPr>
        <p:txBody>
          <a:bodyPr wrap="square" rtlCol="0">
            <a:spAutoFit/>
          </a:bodyPr>
          <a:lstStyle/>
          <a:p>
            <a:r>
              <a:rPr lang="en-US" sz="2800" b="1" dirty="0">
                <a:solidFill>
                  <a:srgbClr val="336EA8"/>
                </a:solidFill>
              </a:rPr>
              <a:t>Project Wireframe :</a:t>
            </a:r>
          </a:p>
          <a:p>
            <a:endParaRPr lang="en-US" sz="2000" b="1" dirty="0"/>
          </a:p>
          <a:p>
            <a:r>
              <a:rPr lang="en-US" sz="2000" b="1" dirty="0"/>
              <a:t>Power BI Dashboard : Landing page :</a:t>
            </a:r>
          </a:p>
        </p:txBody>
      </p:sp>
      <p:pic>
        <p:nvPicPr>
          <p:cNvPr id="6" name="Picture 5">
            <a:extLst>
              <a:ext uri="{FF2B5EF4-FFF2-40B4-BE49-F238E27FC236}">
                <a16:creationId xmlns:a16="http://schemas.microsoft.com/office/drawing/2014/main" id="{1821A1AB-9B17-5B5B-7A9E-4400F50F4467}"/>
              </a:ext>
            </a:extLst>
          </p:cNvPr>
          <p:cNvPicPr>
            <a:picLocks noChangeAspect="1"/>
          </p:cNvPicPr>
          <p:nvPr/>
        </p:nvPicPr>
        <p:blipFill>
          <a:blip r:embed="rId4"/>
          <a:stretch>
            <a:fillRect/>
          </a:stretch>
        </p:blipFill>
        <p:spPr>
          <a:xfrm>
            <a:off x="2098766" y="2057439"/>
            <a:ext cx="7837713" cy="394712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E7B278F2-7BD1-22D4-2E5B-2B836CEAA923}"/>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DCDE2D47-2736-A301-0442-18281B3C620C}"/>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24" name="Google Shape;224;p12">
            <a:extLst>
              <a:ext uri="{FF2B5EF4-FFF2-40B4-BE49-F238E27FC236}">
                <a16:creationId xmlns:a16="http://schemas.microsoft.com/office/drawing/2014/main" id="{47B7DBA3-A467-701B-C0C8-3DFDDC221C79}"/>
              </a:ext>
            </a:extLst>
          </p:cNvPr>
          <p:cNvSpPr txBox="1">
            <a:spLocks noGrp="1"/>
          </p:cNvSpPr>
          <p:nvPr>
            <p:ph type="ftr" idx="11"/>
          </p:nvPr>
        </p:nvSpPr>
        <p:spPr>
          <a:xfrm flipV="1">
            <a:off x="3936274" y="7428411"/>
            <a:ext cx="165463" cy="5050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25" name="Google Shape;225;p12">
            <a:extLst>
              <a:ext uri="{FF2B5EF4-FFF2-40B4-BE49-F238E27FC236}">
                <a16:creationId xmlns:a16="http://schemas.microsoft.com/office/drawing/2014/main" id="{DFA09581-6D52-DF63-0A86-2CF574EA5D7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12</a:t>
            </a:r>
            <a:endParaRPr dirty="0"/>
          </a:p>
        </p:txBody>
      </p:sp>
      <p:pic>
        <p:nvPicPr>
          <p:cNvPr id="2" name="Google Shape;110;p1">
            <a:extLst>
              <a:ext uri="{FF2B5EF4-FFF2-40B4-BE49-F238E27FC236}">
                <a16:creationId xmlns:a16="http://schemas.microsoft.com/office/drawing/2014/main" id="{7C610F4D-CBE0-54CE-DFCD-504F415565C9}"/>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06EDAC74-4036-89A5-0B13-0C78CC39E5F1}"/>
              </a:ext>
            </a:extLst>
          </p:cNvPr>
          <p:cNvSpPr txBox="1"/>
          <p:nvPr/>
        </p:nvSpPr>
        <p:spPr>
          <a:xfrm>
            <a:off x="1550125" y="853440"/>
            <a:ext cx="6688184" cy="1138773"/>
          </a:xfrm>
          <a:prstGeom prst="rect">
            <a:avLst/>
          </a:prstGeom>
          <a:noFill/>
        </p:spPr>
        <p:txBody>
          <a:bodyPr wrap="square" rtlCol="0">
            <a:spAutoFit/>
          </a:bodyPr>
          <a:lstStyle/>
          <a:p>
            <a:r>
              <a:rPr lang="en-US" sz="2800" b="1" dirty="0">
                <a:solidFill>
                  <a:srgbClr val="336EA8"/>
                </a:solidFill>
              </a:rPr>
              <a:t>Project Wireframe :</a:t>
            </a:r>
          </a:p>
          <a:p>
            <a:endParaRPr lang="en-US" sz="2000" b="1" dirty="0"/>
          </a:p>
          <a:p>
            <a:r>
              <a:rPr lang="en-US" sz="2000" b="1" dirty="0"/>
              <a:t>Power BI Dashboard : Page 1- Market Overview:</a:t>
            </a:r>
          </a:p>
        </p:txBody>
      </p:sp>
      <p:pic>
        <p:nvPicPr>
          <p:cNvPr id="6" name="Picture 5">
            <a:extLst>
              <a:ext uri="{FF2B5EF4-FFF2-40B4-BE49-F238E27FC236}">
                <a16:creationId xmlns:a16="http://schemas.microsoft.com/office/drawing/2014/main" id="{3F61A1C6-0E30-A6F6-97A9-FDE55EAECD85}"/>
              </a:ext>
            </a:extLst>
          </p:cNvPr>
          <p:cNvPicPr>
            <a:picLocks noChangeAspect="1"/>
          </p:cNvPicPr>
          <p:nvPr/>
        </p:nvPicPr>
        <p:blipFill>
          <a:blip r:embed="rId4"/>
          <a:stretch>
            <a:fillRect/>
          </a:stretch>
        </p:blipFill>
        <p:spPr>
          <a:xfrm>
            <a:off x="561202" y="2142309"/>
            <a:ext cx="7285221" cy="3953691"/>
          </a:xfrm>
          <a:prstGeom prst="rect">
            <a:avLst/>
          </a:prstGeom>
        </p:spPr>
      </p:pic>
      <p:pic>
        <p:nvPicPr>
          <p:cNvPr id="7" name="Picture 6">
            <a:extLst>
              <a:ext uri="{FF2B5EF4-FFF2-40B4-BE49-F238E27FC236}">
                <a16:creationId xmlns:a16="http://schemas.microsoft.com/office/drawing/2014/main" id="{30F989D6-9466-38DA-AC6D-3A58308A7706}"/>
              </a:ext>
            </a:extLst>
          </p:cNvPr>
          <p:cNvPicPr>
            <a:picLocks noChangeAspect="1"/>
          </p:cNvPicPr>
          <p:nvPr/>
        </p:nvPicPr>
        <p:blipFill>
          <a:blip r:embed="rId5"/>
          <a:stretch>
            <a:fillRect/>
          </a:stretch>
        </p:blipFill>
        <p:spPr>
          <a:xfrm>
            <a:off x="8064136" y="2255520"/>
            <a:ext cx="4015269" cy="2351314"/>
          </a:xfrm>
          <a:prstGeom prst="rect">
            <a:avLst/>
          </a:prstGeom>
        </p:spPr>
      </p:pic>
      <p:sp>
        <p:nvSpPr>
          <p:cNvPr id="8" name="TextBox 7">
            <a:extLst>
              <a:ext uri="{FF2B5EF4-FFF2-40B4-BE49-F238E27FC236}">
                <a16:creationId xmlns:a16="http://schemas.microsoft.com/office/drawing/2014/main" id="{24CC2344-E5BE-53AA-606D-6302FEAD8EF7}"/>
              </a:ext>
            </a:extLst>
          </p:cNvPr>
          <p:cNvSpPr txBox="1"/>
          <p:nvPr/>
        </p:nvSpPr>
        <p:spPr>
          <a:xfrm>
            <a:off x="8133806" y="2333897"/>
            <a:ext cx="3866605" cy="2246769"/>
          </a:xfrm>
          <a:prstGeom prst="rect">
            <a:avLst/>
          </a:prstGeom>
          <a:noFill/>
        </p:spPr>
        <p:txBody>
          <a:bodyPr wrap="square" rtlCol="0">
            <a:spAutoFit/>
          </a:bodyPr>
          <a:lstStyle/>
          <a:p>
            <a:r>
              <a:rPr lang="en-US" sz="2000" b="1" dirty="0">
                <a:solidFill>
                  <a:schemeClr val="bg1"/>
                </a:solidFill>
              </a:rPr>
              <a:t>Market Overview :</a:t>
            </a:r>
          </a:p>
          <a:p>
            <a:r>
              <a:rPr lang="en-US" sz="2000" dirty="0">
                <a:solidFill>
                  <a:schemeClr val="bg1"/>
                </a:solidFill>
              </a:rPr>
              <a:t>This dashboard provides a high-level overview of Bitcoin market performance, helping users monitor price movement, trading activity, and market trends in one place.</a:t>
            </a:r>
          </a:p>
        </p:txBody>
      </p:sp>
    </p:spTree>
    <p:extLst>
      <p:ext uri="{BB962C8B-B14F-4D97-AF65-F5344CB8AC3E}">
        <p14:creationId xmlns:p14="http://schemas.microsoft.com/office/powerpoint/2010/main" val="1211760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53427AA8-E443-FA00-F730-FE69C52459EF}"/>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9630B009-0CEC-7028-7224-D08D881D366A}"/>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24" name="Google Shape;224;p12">
            <a:extLst>
              <a:ext uri="{FF2B5EF4-FFF2-40B4-BE49-F238E27FC236}">
                <a16:creationId xmlns:a16="http://schemas.microsoft.com/office/drawing/2014/main" id="{30F7A89A-548C-4143-5FFF-C2F8F9037DCE}"/>
              </a:ext>
            </a:extLst>
          </p:cNvPr>
          <p:cNvSpPr txBox="1">
            <a:spLocks noGrp="1"/>
          </p:cNvSpPr>
          <p:nvPr>
            <p:ph type="ftr" idx="11"/>
          </p:nvPr>
        </p:nvSpPr>
        <p:spPr>
          <a:xfrm flipV="1">
            <a:off x="3936274" y="7428411"/>
            <a:ext cx="165463" cy="5050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25" name="Google Shape;225;p12">
            <a:extLst>
              <a:ext uri="{FF2B5EF4-FFF2-40B4-BE49-F238E27FC236}">
                <a16:creationId xmlns:a16="http://schemas.microsoft.com/office/drawing/2014/main" id="{E785899C-0656-E2E5-0E75-C067B7CE9D9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13</a:t>
            </a:r>
            <a:endParaRPr dirty="0"/>
          </a:p>
        </p:txBody>
      </p:sp>
      <p:pic>
        <p:nvPicPr>
          <p:cNvPr id="2" name="Google Shape;110;p1">
            <a:extLst>
              <a:ext uri="{FF2B5EF4-FFF2-40B4-BE49-F238E27FC236}">
                <a16:creationId xmlns:a16="http://schemas.microsoft.com/office/drawing/2014/main" id="{12D0771F-5087-ED65-A6BB-00509AE99249}"/>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A11B291B-14BB-D218-210D-7E60BBABC151}"/>
              </a:ext>
            </a:extLst>
          </p:cNvPr>
          <p:cNvSpPr txBox="1"/>
          <p:nvPr/>
        </p:nvSpPr>
        <p:spPr>
          <a:xfrm>
            <a:off x="1445621" y="844731"/>
            <a:ext cx="7228115" cy="1138773"/>
          </a:xfrm>
          <a:prstGeom prst="rect">
            <a:avLst/>
          </a:prstGeom>
          <a:noFill/>
        </p:spPr>
        <p:txBody>
          <a:bodyPr wrap="square" rtlCol="0">
            <a:spAutoFit/>
          </a:bodyPr>
          <a:lstStyle/>
          <a:p>
            <a:r>
              <a:rPr lang="en-US" sz="2800" b="1" dirty="0">
                <a:solidFill>
                  <a:srgbClr val="336EA8"/>
                </a:solidFill>
              </a:rPr>
              <a:t>Project Wireframe :</a:t>
            </a:r>
          </a:p>
          <a:p>
            <a:endParaRPr lang="en-US" sz="2000" b="1" dirty="0"/>
          </a:p>
          <a:p>
            <a:r>
              <a:rPr lang="en-US" sz="2000" b="1" dirty="0"/>
              <a:t>Power BI Dashboard : Page 2- Buyer VS Seller Pressure :</a:t>
            </a:r>
          </a:p>
        </p:txBody>
      </p:sp>
      <p:pic>
        <p:nvPicPr>
          <p:cNvPr id="7" name="Picture 6">
            <a:extLst>
              <a:ext uri="{FF2B5EF4-FFF2-40B4-BE49-F238E27FC236}">
                <a16:creationId xmlns:a16="http://schemas.microsoft.com/office/drawing/2014/main" id="{EFEA15C4-3A0D-054A-3FDC-DB7851B5DA6F}"/>
              </a:ext>
            </a:extLst>
          </p:cNvPr>
          <p:cNvPicPr>
            <a:picLocks noChangeAspect="1"/>
          </p:cNvPicPr>
          <p:nvPr/>
        </p:nvPicPr>
        <p:blipFill>
          <a:blip r:embed="rId4"/>
          <a:stretch>
            <a:fillRect/>
          </a:stretch>
        </p:blipFill>
        <p:spPr>
          <a:xfrm>
            <a:off x="8064136" y="2255520"/>
            <a:ext cx="4015269" cy="2351314"/>
          </a:xfrm>
          <a:prstGeom prst="rect">
            <a:avLst/>
          </a:prstGeom>
        </p:spPr>
      </p:pic>
      <p:sp>
        <p:nvSpPr>
          <p:cNvPr id="8" name="TextBox 7">
            <a:extLst>
              <a:ext uri="{FF2B5EF4-FFF2-40B4-BE49-F238E27FC236}">
                <a16:creationId xmlns:a16="http://schemas.microsoft.com/office/drawing/2014/main" id="{49FD41CA-B229-BBB9-278A-26BDA860C171}"/>
              </a:ext>
            </a:extLst>
          </p:cNvPr>
          <p:cNvSpPr txBox="1"/>
          <p:nvPr/>
        </p:nvSpPr>
        <p:spPr>
          <a:xfrm>
            <a:off x="8133806" y="2333897"/>
            <a:ext cx="3866605" cy="2062103"/>
          </a:xfrm>
          <a:prstGeom prst="rect">
            <a:avLst/>
          </a:prstGeom>
          <a:noFill/>
        </p:spPr>
        <p:txBody>
          <a:bodyPr wrap="square" rtlCol="0">
            <a:spAutoFit/>
          </a:bodyPr>
          <a:lstStyle/>
          <a:p>
            <a:r>
              <a:rPr lang="en-US" sz="2000" b="1" dirty="0">
                <a:solidFill>
                  <a:schemeClr val="bg1"/>
                </a:solidFill>
              </a:rPr>
              <a:t>Buyer VS Seller Pressure :</a:t>
            </a:r>
          </a:p>
          <a:p>
            <a:r>
              <a:rPr lang="en-US" sz="1800" dirty="0">
                <a:solidFill>
                  <a:schemeClr val="bg1"/>
                </a:solidFill>
              </a:rPr>
              <a:t>This dashboard tracks the balance of power between buyers and sellers in the Bitcoin market, helping users spot shifts in order flow and detect overheating conditions before they turn into reversals.</a:t>
            </a:r>
          </a:p>
        </p:txBody>
      </p:sp>
      <p:pic>
        <p:nvPicPr>
          <p:cNvPr id="5" name="Picture 4">
            <a:extLst>
              <a:ext uri="{FF2B5EF4-FFF2-40B4-BE49-F238E27FC236}">
                <a16:creationId xmlns:a16="http://schemas.microsoft.com/office/drawing/2014/main" id="{4300DAFF-790C-8DB7-F909-ADDD092B8828}"/>
              </a:ext>
            </a:extLst>
          </p:cNvPr>
          <p:cNvPicPr>
            <a:picLocks noChangeAspect="1"/>
          </p:cNvPicPr>
          <p:nvPr/>
        </p:nvPicPr>
        <p:blipFill>
          <a:blip r:embed="rId5"/>
          <a:stretch>
            <a:fillRect/>
          </a:stretch>
        </p:blipFill>
        <p:spPr>
          <a:xfrm>
            <a:off x="670559" y="2048730"/>
            <a:ext cx="7228115" cy="4047270"/>
          </a:xfrm>
          <a:prstGeom prst="rect">
            <a:avLst/>
          </a:prstGeom>
        </p:spPr>
      </p:pic>
    </p:spTree>
    <p:extLst>
      <p:ext uri="{BB962C8B-B14F-4D97-AF65-F5344CB8AC3E}">
        <p14:creationId xmlns:p14="http://schemas.microsoft.com/office/powerpoint/2010/main" val="2615420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2793EF44-4241-6842-305B-E663B0782C5C}"/>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C9364F7B-D5DC-026E-066B-F9B802D27AC0}"/>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24" name="Google Shape;224;p12">
            <a:extLst>
              <a:ext uri="{FF2B5EF4-FFF2-40B4-BE49-F238E27FC236}">
                <a16:creationId xmlns:a16="http://schemas.microsoft.com/office/drawing/2014/main" id="{85855290-84AF-08B8-1347-1ACD057500BE}"/>
              </a:ext>
            </a:extLst>
          </p:cNvPr>
          <p:cNvSpPr txBox="1">
            <a:spLocks noGrp="1"/>
          </p:cNvSpPr>
          <p:nvPr>
            <p:ph type="ftr" idx="11"/>
          </p:nvPr>
        </p:nvSpPr>
        <p:spPr>
          <a:xfrm flipV="1">
            <a:off x="3936274" y="7428411"/>
            <a:ext cx="165463" cy="5050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25" name="Google Shape;225;p12">
            <a:extLst>
              <a:ext uri="{FF2B5EF4-FFF2-40B4-BE49-F238E27FC236}">
                <a16:creationId xmlns:a16="http://schemas.microsoft.com/office/drawing/2014/main" id="{8C238407-1DF1-D2C0-200E-F08144D167A1}"/>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14</a:t>
            </a:r>
            <a:endParaRPr dirty="0"/>
          </a:p>
        </p:txBody>
      </p:sp>
      <p:pic>
        <p:nvPicPr>
          <p:cNvPr id="2" name="Google Shape;110;p1">
            <a:extLst>
              <a:ext uri="{FF2B5EF4-FFF2-40B4-BE49-F238E27FC236}">
                <a16:creationId xmlns:a16="http://schemas.microsoft.com/office/drawing/2014/main" id="{3E50ED99-35DE-FF7C-D233-1E0B21370E38}"/>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6188A1AC-77CA-16BF-77BB-D3B8F1E2C5D3}"/>
              </a:ext>
            </a:extLst>
          </p:cNvPr>
          <p:cNvSpPr txBox="1"/>
          <p:nvPr/>
        </p:nvSpPr>
        <p:spPr>
          <a:xfrm>
            <a:off x="1445621" y="844731"/>
            <a:ext cx="7872550" cy="1138773"/>
          </a:xfrm>
          <a:prstGeom prst="rect">
            <a:avLst/>
          </a:prstGeom>
          <a:noFill/>
        </p:spPr>
        <p:txBody>
          <a:bodyPr wrap="square" rtlCol="0">
            <a:spAutoFit/>
          </a:bodyPr>
          <a:lstStyle/>
          <a:p>
            <a:r>
              <a:rPr lang="en-US" sz="2800" b="1" dirty="0">
                <a:solidFill>
                  <a:srgbClr val="336EA8"/>
                </a:solidFill>
              </a:rPr>
              <a:t>Project Wireframe :</a:t>
            </a:r>
          </a:p>
          <a:p>
            <a:endParaRPr lang="en-US" sz="2000" b="1" dirty="0"/>
          </a:p>
          <a:p>
            <a:r>
              <a:rPr lang="en-US" sz="2000" b="1" dirty="0"/>
              <a:t>Power BI Dashboard : Page 3- </a:t>
            </a:r>
            <a:r>
              <a:rPr lang="en-US" sz="2000" b="1" dirty="0" err="1"/>
              <a:t>Liquidity,Support</a:t>
            </a:r>
            <a:r>
              <a:rPr lang="en-US" sz="2000" b="1" dirty="0"/>
              <a:t> &amp; Resistance:</a:t>
            </a:r>
          </a:p>
        </p:txBody>
      </p:sp>
      <p:pic>
        <p:nvPicPr>
          <p:cNvPr id="7" name="Picture 6">
            <a:extLst>
              <a:ext uri="{FF2B5EF4-FFF2-40B4-BE49-F238E27FC236}">
                <a16:creationId xmlns:a16="http://schemas.microsoft.com/office/drawing/2014/main" id="{F6ACA125-91ED-96E2-0765-CB3974A445B0}"/>
              </a:ext>
            </a:extLst>
          </p:cNvPr>
          <p:cNvPicPr>
            <a:picLocks noChangeAspect="1"/>
          </p:cNvPicPr>
          <p:nvPr/>
        </p:nvPicPr>
        <p:blipFill>
          <a:blip r:embed="rId4"/>
          <a:stretch>
            <a:fillRect/>
          </a:stretch>
        </p:blipFill>
        <p:spPr>
          <a:xfrm>
            <a:off x="8064136" y="2255519"/>
            <a:ext cx="4015269" cy="2618977"/>
          </a:xfrm>
          <a:prstGeom prst="rect">
            <a:avLst/>
          </a:prstGeom>
        </p:spPr>
      </p:pic>
      <p:sp>
        <p:nvSpPr>
          <p:cNvPr id="8" name="TextBox 7">
            <a:extLst>
              <a:ext uri="{FF2B5EF4-FFF2-40B4-BE49-F238E27FC236}">
                <a16:creationId xmlns:a16="http://schemas.microsoft.com/office/drawing/2014/main" id="{2BA54B02-73B3-7EDE-EA8D-4BC2BE45F486}"/>
              </a:ext>
            </a:extLst>
          </p:cNvPr>
          <p:cNvSpPr txBox="1"/>
          <p:nvPr/>
        </p:nvSpPr>
        <p:spPr>
          <a:xfrm>
            <a:off x="8133806" y="2333897"/>
            <a:ext cx="4024592" cy="2646878"/>
          </a:xfrm>
          <a:prstGeom prst="rect">
            <a:avLst/>
          </a:prstGeom>
          <a:noFill/>
        </p:spPr>
        <p:txBody>
          <a:bodyPr wrap="square" rtlCol="0">
            <a:spAutoFit/>
          </a:bodyPr>
          <a:lstStyle/>
          <a:p>
            <a:r>
              <a:rPr lang="en-US" sz="2000" b="1" dirty="0">
                <a:solidFill>
                  <a:schemeClr val="bg1"/>
                </a:solidFill>
              </a:rPr>
              <a:t>Liquidity, Support &amp; Resistance:</a:t>
            </a:r>
          </a:p>
          <a:p>
            <a:r>
              <a:rPr lang="en-US" sz="1800" dirty="0">
                <a:solidFill>
                  <a:schemeClr val="bg1"/>
                </a:solidFill>
              </a:rPr>
              <a:t>This dashboard maps out where Bitcoin's trading volume concentrates by price level and how strongly price rejects or holds at key zones, helping users spot support, resistance, and consolidation before the market breaks in a new direction.</a:t>
            </a:r>
          </a:p>
        </p:txBody>
      </p:sp>
      <p:pic>
        <p:nvPicPr>
          <p:cNvPr id="6" name="Picture 5">
            <a:extLst>
              <a:ext uri="{FF2B5EF4-FFF2-40B4-BE49-F238E27FC236}">
                <a16:creationId xmlns:a16="http://schemas.microsoft.com/office/drawing/2014/main" id="{631F8707-6F41-5E1F-1194-3DF8F47937C4}"/>
              </a:ext>
            </a:extLst>
          </p:cNvPr>
          <p:cNvPicPr>
            <a:picLocks noChangeAspect="1"/>
          </p:cNvPicPr>
          <p:nvPr/>
        </p:nvPicPr>
        <p:blipFill>
          <a:blip r:embed="rId5"/>
          <a:stretch>
            <a:fillRect/>
          </a:stretch>
        </p:blipFill>
        <p:spPr>
          <a:xfrm>
            <a:off x="722811" y="2048730"/>
            <a:ext cx="7262332" cy="4143064"/>
          </a:xfrm>
          <a:prstGeom prst="rect">
            <a:avLst/>
          </a:prstGeom>
        </p:spPr>
      </p:pic>
    </p:spTree>
    <p:extLst>
      <p:ext uri="{BB962C8B-B14F-4D97-AF65-F5344CB8AC3E}">
        <p14:creationId xmlns:p14="http://schemas.microsoft.com/office/powerpoint/2010/main" val="3199777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74D34B29-6236-5E79-1B2F-B2C95C1DBD31}"/>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77F6AB10-DAB0-513C-3FF9-D48EFFCAF4D3}"/>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24" name="Google Shape;224;p12">
            <a:extLst>
              <a:ext uri="{FF2B5EF4-FFF2-40B4-BE49-F238E27FC236}">
                <a16:creationId xmlns:a16="http://schemas.microsoft.com/office/drawing/2014/main" id="{CE35D645-488B-3BFB-08E3-0C1A4BAEBB7D}"/>
              </a:ext>
            </a:extLst>
          </p:cNvPr>
          <p:cNvSpPr txBox="1">
            <a:spLocks noGrp="1"/>
          </p:cNvSpPr>
          <p:nvPr>
            <p:ph type="ftr" idx="11"/>
          </p:nvPr>
        </p:nvSpPr>
        <p:spPr>
          <a:xfrm flipV="1">
            <a:off x="3936274" y="7428411"/>
            <a:ext cx="165463" cy="5050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25" name="Google Shape;225;p12">
            <a:extLst>
              <a:ext uri="{FF2B5EF4-FFF2-40B4-BE49-F238E27FC236}">
                <a16:creationId xmlns:a16="http://schemas.microsoft.com/office/drawing/2014/main" id="{20D14D84-A9E3-0CD6-9C4D-DCA1136B565A}"/>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15</a:t>
            </a:r>
            <a:endParaRPr dirty="0"/>
          </a:p>
        </p:txBody>
      </p:sp>
      <p:pic>
        <p:nvPicPr>
          <p:cNvPr id="2" name="Google Shape;110;p1">
            <a:extLst>
              <a:ext uri="{FF2B5EF4-FFF2-40B4-BE49-F238E27FC236}">
                <a16:creationId xmlns:a16="http://schemas.microsoft.com/office/drawing/2014/main" id="{421940A3-6C3D-E6F1-1DBC-D18003BCAC7F}"/>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D5213EE5-0B90-A41E-9AB7-301D12C04D0A}"/>
              </a:ext>
            </a:extLst>
          </p:cNvPr>
          <p:cNvSpPr txBox="1"/>
          <p:nvPr/>
        </p:nvSpPr>
        <p:spPr>
          <a:xfrm>
            <a:off x="1445621" y="844731"/>
            <a:ext cx="7872550" cy="1138773"/>
          </a:xfrm>
          <a:prstGeom prst="rect">
            <a:avLst/>
          </a:prstGeom>
          <a:noFill/>
        </p:spPr>
        <p:txBody>
          <a:bodyPr wrap="square" rtlCol="0">
            <a:spAutoFit/>
          </a:bodyPr>
          <a:lstStyle/>
          <a:p>
            <a:r>
              <a:rPr lang="en-US" sz="2800" b="1" dirty="0">
                <a:solidFill>
                  <a:srgbClr val="336EA8"/>
                </a:solidFill>
              </a:rPr>
              <a:t>Project Wireframe :</a:t>
            </a:r>
          </a:p>
          <a:p>
            <a:endParaRPr lang="en-US" sz="2000" b="1" dirty="0"/>
          </a:p>
          <a:p>
            <a:r>
              <a:rPr lang="en-US" sz="2000" b="1" dirty="0"/>
              <a:t>Power BI Dashboard : Page 4- Trend &amp; Breakout Tracking:</a:t>
            </a:r>
          </a:p>
        </p:txBody>
      </p:sp>
      <p:pic>
        <p:nvPicPr>
          <p:cNvPr id="7" name="Picture 6">
            <a:extLst>
              <a:ext uri="{FF2B5EF4-FFF2-40B4-BE49-F238E27FC236}">
                <a16:creationId xmlns:a16="http://schemas.microsoft.com/office/drawing/2014/main" id="{8604E5BE-5F58-4154-E079-04116E4E3669}"/>
              </a:ext>
            </a:extLst>
          </p:cNvPr>
          <p:cNvPicPr>
            <a:picLocks noChangeAspect="1"/>
          </p:cNvPicPr>
          <p:nvPr/>
        </p:nvPicPr>
        <p:blipFill>
          <a:blip r:embed="rId4"/>
          <a:stretch>
            <a:fillRect/>
          </a:stretch>
        </p:blipFill>
        <p:spPr>
          <a:xfrm>
            <a:off x="8064136" y="2255519"/>
            <a:ext cx="4015269" cy="2618977"/>
          </a:xfrm>
          <a:prstGeom prst="rect">
            <a:avLst/>
          </a:prstGeom>
        </p:spPr>
      </p:pic>
      <p:sp>
        <p:nvSpPr>
          <p:cNvPr id="8" name="TextBox 7">
            <a:extLst>
              <a:ext uri="{FF2B5EF4-FFF2-40B4-BE49-F238E27FC236}">
                <a16:creationId xmlns:a16="http://schemas.microsoft.com/office/drawing/2014/main" id="{5567F5F7-C570-01ED-0027-2BDBEC911099}"/>
              </a:ext>
            </a:extLst>
          </p:cNvPr>
          <p:cNvSpPr txBox="1"/>
          <p:nvPr/>
        </p:nvSpPr>
        <p:spPr>
          <a:xfrm>
            <a:off x="8091546" y="2295807"/>
            <a:ext cx="4024592" cy="1785104"/>
          </a:xfrm>
          <a:prstGeom prst="rect">
            <a:avLst/>
          </a:prstGeom>
          <a:noFill/>
        </p:spPr>
        <p:txBody>
          <a:bodyPr wrap="square" rtlCol="0">
            <a:spAutoFit/>
          </a:bodyPr>
          <a:lstStyle/>
          <a:p>
            <a:r>
              <a:rPr lang="en-US" sz="2000" b="1" dirty="0">
                <a:solidFill>
                  <a:schemeClr val="bg1"/>
                </a:solidFill>
              </a:rPr>
              <a:t>Trend &amp; Breakout Tracking:</a:t>
            </a:r>
          </a:p>
          <a:p>
            <a:r>
              <a:rPr lang="en-US" sz="1800" dirty="0">
                <a:solidFill>
                  <a:schemeClr val="bg1"/>
                </a:solidFill>
              </a:rPr>
              <a:t>This dashboard follows how strongly Bitcoin's price trends are building or fading over time, helping users spot sustained runs, streak reversals, and breakout moments as they form.</a:t>
            </a:r>
          </a:p>
        </p:txBody>
      </p:sp>
      <p:pic>
        <p:nvPicPr>
          <p:cNvPr id="5" name="Picture 4">
            <a:extLst>
              <a:ext uri="{FF2B5EF4-FFF2-40B4-BE49-F238E27FC236}">
                <a16:creationId xmlns:a16="http://schemas.microsoft.com/office/drawing/2014/main" id="{37E980D5-14C9-64F3-C8B4-7C7BDD2701F9}"/>
              </a:ext>
            </a:extLst>
          </p:cNvPr>
          <p:cNvPicPr>
            <a:picLocks noChangeAspect="1"/>
          </p:cNvPicPr>
          <p:nvPr/>
        </p:nvPicPr>
        <p:blipFill>
          <a:blip r:embed="rId5"/>
          <a:stretch>
            <a:fillRect/>
          </a:stretch>
        </p:blipFill>
        <p:spPr>
          <a:xfrm>
            <a:off x="838200" y="2048731"/>
            <a:ext cx="7069184" cy="4169190"/>
          </a:xfrm>
          <a:prstGeom prst="rect">
            <a:avLst/>
          </a:prstGeom>
        </p:spPr>
      </p:pic>
    </p:spTree>
    <p:extLst>
      <p:ext uri="{BB962C8B-B14F-4D97-AF65-F5344CB8AC3E}">
        <p14:creationId xmlns:p14="http://schemas.microsoft.com/office/powerpoint/2010/main" val="2186905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841A00ED-20E1-F7A8-8AA4-B1FCB181EEAF}"/>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E46D8CD5-DF72-A340-92E8-1A692A5499A4}"/>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24" name="Google Shape;224;p12">
            <a:extLst>
              <a:ext uri="{FF2B5EF4-FFF2-40B4-BE49-F238E27FC236}">
                <a16:creationId xmlns:a16="http://schemas.microsoft.com/office/drawing/2014/main" id="{54F05923-F004-55AF-96C1-CCBB2E6BA5BC}"/>
              </a:ext>
            </a:extLst>
          </p:cNvPr>
          <p:cNvSpPr txBox="1">
            <a:spLocks noGrp="1"/>
          </p:cNvSpPr>
          <p:nvPr>
            <p:ph type="ftr" idx="11"/>
          </p:nvPr>
        </p:nvSpPr>
        <p:spPr>
          <a:xfrm flipV="1">
            <a:off x="3936274" y="7428411"/>
            <a:ext cx="165463" cy="5050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25" name="Google Shape;225;p12">
            <a:extLst>
              <a:ext uri="{FF2B5EF4-FFF2-40B4-BE49-F238E27FC236}">
                <a16:creationId xmlns:a16="http://schemas.microsoft.com/office/drawing/2014/main" id="{566A09F6-40D4-0412-5A5C-DEA931851C5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16</a:t>
            </a:r>
            <a:endParaRPr dirty="0"/>
          </a:p>
        </p:txBody>
      </p:sp>
      <p:pic>
        <p:nvPicPr>
          <p:cNvPr id="2" name="Google Shape;110;p1">
            <a:extLst>
              <a:ext uri="{FF2B5EF4-FFF2-40B4-BE49-F238E27FC236}">
                <a16:creationId xmlns:a16="http://schemas.microsoft.com/office/drawing/2014/main" id="{0C293D2E-EEC7-1E9E-544F-37398C4D6400}"/>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EACC5B95-77C0-654E-D5DA-6A88104BB941}"/>
              </a:ext>
            </a:extLst>
          </p:cNvPr>
          <p:cNvSpPr txBox="1"/>
          <p:nvPr/>
        </p:nvSpPr>
        <p:spPr>
          <a:xfrm>
            <a:off x="1445621" y="844731"/>
            <a:ext cx="7872550" cy="1138773"/>
          </a:xfrm>
          <a:prstGeom prst="rect">
            <a:avLst/>
          </a:prstGeom>
          <a:noFill/>
        </p:spPr>
        <p:txBody>
          <a:bodyPr wrap="square" rtlCol="0">
            <a:spAutoFit/>
          </a:bodyPr>
          <a:lstStyle/>
          <a:p>
            <a:r>
              <a:rPr lang="en-US" sz="2800" b="1" dirty="0"/>
              <a:t>Project Wireframe :</a:t>
            </a:r>
          </a:p>
          <a:p>
            <a:endParaRPr lang="en-US" sz="2000" b="1" dirty="0"/>
          </a:p>
          <a:p>
            <a:r>
              <a:rPr lang="en-US" sz="2000" b="1" dirty="0"/>
              <a:t>Power BI Dashboard : Page 5- Trader Activity &amp; Whale Watch:</a:t>
            </a:r>
          </a:p>
        </p:txBody>
      </p:sp>
      <p:pic>
        <p:nvPicPr>
          <p:cNvPr id="7" name="Picture 6">
            <a:extLst>
              <a:ext uri="{FF2B5EF4-FFF2-40B4-BE49-F238E27FC236}">
                <a16:creationId xmlns:a16="http://schemas.microsoft.com/office/drawing/2014/main" id="{E96A4A9F-731B-3BFF-46DF-73584D9ABC52}"/>
              </a:ext>
            </a:extLst>
          </p:cNvPr>
          <p:cNvPicPr>
            <a:picLocks noChangeAspect="1"/>
          </p:cNvPicPr>
          <p:nvPr/>
        </p:nvPicPr>
        <p:blipFill>
          <a:blip r:embed="rId4"/>
          <a:stretch>
            <a:fillRect/>
          </a:stretch>
        </p:blipFill>
        <p:spPr>
          <a:xfrm>
            <a:off x="8064136" y="2255519"/>
            <a:ext cx="4015269" cy="2618977"/>
          </a:xfrm>
          <a:prstGeom prst="rect">
            <a:avLst/>
          </a:prstGeom>
        </p:spPr>
      </p:pic>
      <p:sp>
        <p:nvSpPr>
          <p:cNvPr id="8" name="TextBox 7">
            <a:extLst>
              <a:ext uri="{FF2B5EF4-FFF2-40B4-BE49-F238E27FC236}">
                <a16:creationId xmlns:a16="http://schemas.microsoft.com/office/drawing/2014/main" id="{6737381E-1444-DF4F-615B-0AC4BC7DD090}"/>
              </a:ext>
            </a:extLst>
          </p:cNvPr>
          <p:cNvSpPr txBox="1"/>
          <p:nvPr/>
        </p:nvSpPr>
        <p:spPr>
          <a:xfrm>
            <a:off x="8091546" y="2295807"/>
            <a:ext cx="4024592" cy="2062103"/>
          </a:xfrm>
          <a:prstGeom prst="rect">
            <a:avLst/>
          </a:prstGeom>
          <a:noFill/>
        </p:spPr>
        <p:txBody>
          <a:bodyPr wrap="square" rtlCol="0">
            <a:spAutoFit/>
          </a:bodyPr>
          <a:lstStyle/>
          <a:p>
            <a:r>
              <a:rPr lang="en-US" sz="2000" b="1" dirty="0">
                <a:solidFill>
                  <a:schemeClr val="bg1"/>
                </a:solidFill>
              </a:rPr>
              <a:t>Trader Activity &amp; Whale Watch:</a:t>
            </a:r>
          </a:p>
          <a:p>
            <a:r>
              <a:rPr lang="en-US" sz="1800" dirty="0">
                <a:solidFill>
                  <a:schemeClr val="bg1"/>
                </a:solidFill>
              </a:rPr>
              <a:t>This dashboard surfaces how active traders are and where large players are moving the market, helping users spot participation trends and whale-driven volume before it shows up in price.</a:t>
            </a:r>
          </a:p>
        </p:txBody>
      </p:sp>
      <p:pic>
        <p:nvPicPr>
          <p:cNvPr id="6" name="Picture 5">
            <a:extLst>
              <a:ext uri="{FF2B5EF4-FFF2-40B4-BE49-F238E27FC236}">
                <a16:creationId xmlns:a16="http://schemas.microsoft.com/office/drawing/2014/main" id="{07C0E9EC-FF81-5F7A-E541-AA8A3AD19A61}"/>
              </a:ext>
            </a:extLst>
          </p:cNvPr>
          <p:cNvPicPr>
            <a:picLocks noChangeAspect="1"/>
          </p:cNvPicPr>
          <p:nvPr/>
        </p:nvPicPr>
        <p:blipFill>
          <a:blip r:embed="rId5"/>
          <a:stretch>
            <a:fillRect/>
          </a:stretch>
        </p:blipFill>
        <p:spPr>
          <a:xfrm>
            <a:off x="923109" y="2081349"/>
            <a:ext cx="7019109" cy="4101738"/>
          </a:xfrm>
          <a:prstGeom prst="rect">
            <a:avLst/>
          </a:prstGeom>
        </p:spPr>
      </p:pic>
    </p:spTree>
    <p:extLst>
      <p:ext uri="{BB962C8B-B14F-4D97-AF65-F5344CB8AC3E}">
        <p14:creationId xmlns:p14="http://schemas.microsoft.com/office/powerpoint/2010/main" val="2362860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E47BEA87-EE7A-FAC1-B531-57833314AB81}"/>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121E0D57-DAFC-C645-6F05-EAB7657F2A91}"/>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24" name="Google Shape;224;p12">
            <a:extLst>
              <a:ext uri="{FF2B5EF4-FFF2-40B4-BE49-F238E27FC236}">
                <a16:creationId xmlns:a16="http://schemas.microsoft.com/office/drawing/2014/main" id="{89B38CF2-100E-DEE1-743D-0DCB56C45F8B}"/>
              </a:ext>
            </a:extLst>
          </p:cNvPr>
          <p:cNvSpPr txBox="1">
            <a:spLocks noGrp="1"/>
          </p:cNvSpPr>
          <p:nvPr>
            <p:ph type="ftr" idx="11"/>
          </p:nvPr>
        </p:nvSpPr>
        <p:spPr>
          <a:xfrm flipV="1">
            <a:off x="3936274" y="7428411"/>
            <a:ext cx="165463" cy="5050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25" name="Google Shape;225;p12">
            <a:extLst>
              <a:ext uri="{FF2B5EF4-FFF2-40B4-BE49-F238E27FC236}">
                <a16:creationId xmlns:a16="http://schemas.microsoft.com/office/drawing/2014/main" id="{1D559000-5DFA-E7E7-CAAA-C8F78CF2071B}"/>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17</a:t>
            </a:r>
            <a:endParaRPr dirty="0"/>
          </a:p>
        </p:txBody>
      </p:sp>
      <p:pic>
        <p:nvPicPr>
          <p:cNvPr id="2" name="Google Shape;110;p1">
            <a:extLst>
              <a:ext uri="{FF2B5EF4-FFF2-40B4-BE49-F238E27FC236}">
                <a16:creationId xmlns:a16="http://schemas.microsoft.com/office/drawing/2014/main" id="{DC93B215-BF13-E387-5A2B-AF1B9E53A27B}"/>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C98FEE81-92F2-9F10-CDF2-4DE4A7EC7C77}"/>
              </a:ext>
            </a:extLst>
          </p:cNvPr>
          <p:cNvSpPr txBox="1"/>
          <p:nvPr/>
        </p:nvSpPr>
        <p:spPr>
          <a:xfrm>
            <a:off x="1445621" y="844731"/>
            <a:ext cx="7872550" cy="1138773"/>
          </a:xfrm>
          <a:prstGeom prst="rect">
            <a:avLst/>
          </a:prstGeom>
          <a:noFill/>
        </p:spPr>
        <p:txBody>
          <a:bodyPr wrap="square" rtlCol="0">
            <a:spAutoFit/>
          </a:bodyPr>
          <a:lstStyle/>
          <a:p>
            <a:r>
              <a:rPr lang="en-US" sz="2800" b="1" dirty="0">
                <a:solidFill>
                  <a:srgbClr val="336EA8"/>
                </a:solidFill>
              </a:rPr>
              <a:t>Project Wireframe :</a:t>
            </a:r>
          </a:p>
          <a:p>
            <a:endParaRPr lang="en-US" sz="2000" b="1" dirty="0"/>
          </a:p>
          <a:p>
            <a:r>
              <a:rPr lang="en-US" sz="2000" b="1" dirty="0"/>
              <a:t>Power BI Dashboard : Page 6 – The Forecast :</a:t>
            </a:r>
          </a:p>
        </p:txBody>
      </p:sp>
      <p:pic>
        <p:nvPicPr>
          <p:cNvPr id="7" name="Picture 6">
            <a:extLst>
              <a:ext uri="{FF2B5EF4-FFF2-40B4-BE49-F238E27FC236}">
                <a16:creationId xmlns:a16="http://schemas.microsoft.com/office/drawing/2014/main" id="{D9D43949-109A-E2BA-17AF-F81F5343FEDE}"/>
              </a:ext>
            </a:extLst>
          </p:cNvPr>
          <p:cNvPicPr>
            <a:picLocks noChangeAspect="1"/>
          </p:cNvPicPr>
          <p:nvPr/>
        </p:nvPicPr>
        <p:blipFill>
          <a:blip r:embed="rId4"/>
          <a:stretch>
            <a:fillRect/>
          </a:stretch>
        </p:blipFill>
        <p:spPr>
          <a:xfrm>
            <a:off x="8064136" y="2255519"/>
            <a:ext cx="4015269" cy="2618977"/>
          </a:xfrm>
          <a:prstGeom prst="rect">
            <a:avLst/>
          </a:prstGeom>
        </p:spPr>
      </p:pic>
      <p:sp>
        <p:nvSpPr>
          <p:cNvPr id="8" name="TextBox 7">
            <a:extLst>
              <a:ext uri="{FF2B5EF4-FFF2-40B4-BE49-F238E27FC236}">
                <a16:creationId xmlns:a16="http://schemas.microsoft.com/office/drawing/2014/main" id="{3D3A3646-BB2C-2704-E1BB-4D243172BF8C}"/>
              </a:ext>
            </a:extLst>
          </p:cNvPr>
          <p:cNvSpPr txBox="1"/>
          <p:nvPr/>
        </p:nvSpPr>
        <p:spPr>
          <a:xfrm>
            <a:off x="8091546" y="2295807"/>
            <a:ext cx="4024592" cy="2062103"/>
          </a:xfrm>
          <a:prstGeom prst="rect">
            <a:avLst/>
          </a:prstGeom>
          <a:noFill/>
        </p:spPr>
        <p:txBody>
          <a:bodyPr wrap="square" rtlCol="0">
            <a:spAutoFit/>
          </a:bodyPr>
          <a:lstStyle/>
          <a:p>
            <a:r>
              <a:rPr lang="en-US" sz="2000" b="1" dirty="0">
                <a:solidFill>
                  <a:schemeClr val="bg1"/>
                </a:solidFill>
              </a:rPr>
              <a:t>The Forecast:</a:t>
            </a:r>
          </a:p>
          <a:p>
            <a:r>
              <a:rPr lang="en-US" sz="1800" dirty="0">
                <a:solidFill>
                  <a:schemeClr val="bg1"/>
                </a:solidFill>
              </a:rPr>
              <a:t>This dashboard translates a machine learning model's predictions into a clear read on Bitcoin's next move, helping users gauge signal strength, confidence, and historical accuracy before acting on it.</a:t>
            </a:r>
          </a:p>
        </p:txBody>
      </p:sp>
      <p:pic>
        <p:nvPicPr>
          <p:cNvPr id="5" name="Picture 4">
            <a:extLst>
              <a:ext uri="{FF2B5EF4-FFF2-40B4-BE49-F238E27FC236}">
                <a16:creationId xmlns:a16="http://schemas.microsoft.com/office/drawing/2014/main" id="{30E15978-0232-02B3-2326-06543C758D4C}"/>
              </a:ext>
            </a:extLst>
          </p:cNvPr>
          <p:cNvPicPr>
            <a:picLocks noChangeAspect="1"/>
          </p:cNvPicPr>
          <p:nvPr/>
        </p:nvPicPr>
        <p:blipFill>
          <a:blip r:embed="rId5"/>
          <a:stretch>
            <a:fillRect/>
          </a:stretch>
        </p:blipFill>
        <p:spPr>
          <a:xfrm>
            <a:off x="838200" y="2048730"/>
            <a:ext cx="7060474" cy="4177899"/>
          </a:xfrm>
          <a:prstGeom prst="rect">
            <a:avLst/>
          </a:prstGeom>
        </p:spPr>
      </p:pic>
    </p:spTree>
    <p:extLst>
      <p:ext uri="{BB962C8B-B14F-4D97-AF65-F5344CB8AC3E}">
        <p14:creationId xmlns:p14="http://schemas.microsoft.com/office/powerpoint/2010/main" val="2745814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55FB9D74-C5FE-A6D5-336F-C14FE64A8C70}"/>
            </a:ext>
          </a:extLst>
        </p:cNvPr>
        <p:cNvGrpSpPr/>
        <p:nvPr/>
      </p:nvGrpSpPr>
      <p:grpSpPr>
        <a:xfrm>
          <a:off x="0" y="0"/>
          <a:ext cx="0" cy="0"/>
          <a:chOff x="0" y="0"/>
          <a:chExt cx="0" cy="0"/>
        </a:xfrm>
      </p:grpSpPr>
      <p:sp>
        <p:nvSpPr>
          <p:cNvPr id="223" name="Google Shape;223;p12">
            <a:extLst>
              <a:ext uri="{FF2B5EF4-FFF2-40B4-BE49-F238E27FC236}">
                <a16:creationId xmlns:a16="http://schemas.microsoft.com/office/drawing/2014/main" id="{7FB71C05-C77E-C0A2-CEAB-14FA9448C29F}"/>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24" name="Google Shape;224;p12">
            <a:extLst>
              <a:ext uri="{FF2B5EF4-FFF2-40B4-BE49-F238E27FC236}">
                <a16:creationId xmlns:a16="http://schemas.microsoft.com/office/drawing/2014/main" id="{423DBEA7-D111-742B-CF79-B0C751B5D37D}"/>
              </a:ext>
            </a:extLst>
          </p:cNvPr>
          <p:cNvSpPr txBox="1">
            <a:spLocks noGrp="1"/>
          </p:cNvSpPr>
          <p:nvPr>
            <p:ph type="ftr" idx="11"/>
          </p:nvPr>
        </p:nvSpPr>
        <p:spPr>
          <a:xfrm flipV="1">
            <a:off x="3936274" y="7428411"/>
            <a:ext cx="165463" cy="5050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25" name="Google Shape;225;p12">
            <a:extLst>
              <a:ext uri="{FF2B5EF4-FFF2-40B4-BE49-F238E27FC236}">
                <a16:creationId xmlns:a16="http://schemas.microsoft.com/office/drawing/2014/main" id="{F98AA5BA-6BDF-7B81-E809-CA1E0C4A625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18</a:t>
            </a:r>
            <a:endParaRPr dirty="0"/>
          </a:p>
        </p:txBody>
      </p:sp>
      <p:pic>
        <p:nvPicPr>
          <p:cNvPr id="2" name="Google Shape;110;p1">
            <a:extLst>
              <a:ext uri="{FF2B5EF4-FFF2-40B4-BE49-F238E27FC236}">
                <a16:creationId xmlns:a16="http://schemas.microsoft.com/office/drawing/2014/main" id="{16EA4396-F42B-34E8-C5E3-0498FFF69FA4}"/>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TextBox 2">
            <a:extLst>
              <a:ext uri="{FF2B5EF4-FFF2-40B4-BE49-F238E27FC236}">
                <a16:creationId xmlns:a16="http://schemas.microsoft.com/office/drawing/2014/main" id="{B9480B8C-5C4C-96F5-F1D7-2A12286FC773}"/>
              </a:ext>
            </a:extLst>
          </p:cNvPr>
          <p:cNvSpPr txBox="1"/>
          <p:nvPr/>
        </p:nvSpPr>
        <p:spPr>
          <a:xfrm>
            <a:off x="1445621" y="844731"/>
            <a:ext cx="7872550" cy="1138773"/>
          </a:xfrm>
          <a:prstGeom prst="rect">
            <a:avLst/>
          </a:prstGeom>
          <a:noFill/>
        </p:spPr>
        <p:txBody>
          <a:bodyPr wrap="square" rtlCol="0">
            <a:spAutoFit/>
          </a:bodyPr>
          <a:lstStyle/>
          <a:p>
            <a:r>
              <a:rPr lang="en-US" sz="2800" b="1" dirty="0">
                <a:solidFill>
                  <a:srgbClr val="336EA8"/>
                </a:solidFill>
              </a:rPr>
              <a:t>Project Wireframe :</a:t>
            </a:r>
          </a:p>
          <a:p>
            <a:endParaRPr lang="en-US" sz="2000" b="1" dirty="0"/>
          </a:p>
          <a:p>
            <a:r>
              <a:rPr lang="en-US" sz="2000" b="1" dirty="0"/>
              <a:t>Figma Design:</a:t>
            </a:r>
          </a:p>
        </p:txBody>
      </p:sp>
      <p:pic>
        <p:nvPicPr>
          <p:cNvPr id="7" name="Picture 6">
            <a:extLst>
              <a:ext uri="{FF2B5EF4-FFF2-40B4-BE49-F238E27FC236}">
                <a16:creationId xmlns:a16="http://schemas.microsoft.com/office/drawing/2014/main" id="{7F71DAF6-72F4-7021-E947-0566061DD116}"/>
              </a:ext>
            </a:extLst>
          </p:cNvPr>
          <p:cNvPicPr>
            <a:picLocks noChangeAspect="1"/>
          </p:cNvPicPr>
          <p:nvPr/>
        </p:nvPicPr>
        <p:blipFill>
          <a:blip r:embed="rId4"/>
          <a:stretch>
            <a:fillRect/>
          </a:stretch>
        </p:blipFill>
        <p:spPr>
          <a:xfrm>
            <a:off x="8064136" y="2255519"/>
            <a:ext cx="4015269" cy="2618977"/>
          </a:xfrm>
          <a:prstGeom prst="rect">
            <a:avLst/>
          </a:prstGeom>
        </p:spPr>
      </p:pic>
      <p:sp>
        <p:nvSpPr>
          <p:cNvPr id="8" name="TextBox 7">
            <a:extLst>
              <a:ext uri="{FF2B5EF4-FFF2-40B4-BE49-F238E27FC236}">
                <a16:creationId xmlns:a16="http://schemas.microsoft.com/office/drawing/2014/main" id="{84C2F096-9D93-90D7-ADCE-27FFF288C701}"/>
              </a:ext>
            </a:extLst>
          </p:cNvPr>
          <p:cNvSpPr txBox="1"/>
          <p:nvPr/>
        </p:nvSpPr>
        <p:spPr>
          <a:xfrm>
            <a:off x="8091546" y="2295807"/>
            <a:ext cx="4024592" cy="2339102"/>
          </a:xfrm>
          <a:prstGeom prst="rect">
            <a:avLst/>
          </a:prstGeom>
          <a:noFill/>
        </p:spPr>
        <p:txBody>
          <a:bodyPr wrap="square" rtlCol="0">
            <a:spAutoFit/>
          </a:bodyPr>
          <a:lstStyle/>
          <a:p>
            <a:r>
              <a:rPr lang="en-US" sz="2000" b="1" dirty="0">
                <a:solidFill>
                  <a:schemeClr val="bg1"/>
                </a:solidFill>
              </a:rPr>
              <a:t>The Design:</a:t>
            </a:r>
          </a:p>
          <a:p>
            <a:r>
              <a:rPr lang="en-US" dirty="0">
                <a:solidFill>
                  <a:schemeClr val="bg1"/>
                </a:solidFill>
              </a:rPr>
              <a:t>The dashboard's visual design was developed in Figma to establish a cohesive design system prior to implementation in Power BI. The interface follows a dark, editorial aesthetic that departs from conventional crypto/fintech dashboard styling (typically dark backgrounds paired with neon-green accents), instead using a warm, jewel-toned palette to give the project a distinct visual identity.</a:t>
            </a:r>
          </a:p>
        </p:txBody>
      </p:sp>
      <p:pic>
        <p:nvPicPr>
          <p:cNvPr id="6" name="Picture 5">
            <a:extLst>
              <a:ext uri="{FF2B5EF4-FFF2-40B4-BE49-F238E27FC236}">
                <a16:creationId xmlns:a16="http://schemas.microsoft.com/office/drawing/2014/main" id="{DD05C3FB-C9F4-C138-6CDA-382613A689C7}"/>
              </a:ext>
            </a:extLst>
          </p:cNvPr>
          <p:cNvPicPr>
            <a:picLocks noChangeAspect="1"/>
          </p:cNvPicPr>
          <p:nvPr/>
        </p:nvPicPr>
        <p:blipFill>
          <a:blip r:embed="rId5"/>
          <a:stretch>
            <a:fillRect/>
          </a:stretch>
        </p:blipFill>
        <p:spPr>
          <a:xfrm>
            <a:off x="838200" y="2090056"/>
            <a:ext cx="7034350" cy="3923213"/>
          </a:xfrm>
          <a:prstGeom prst="rect">
            <a:avLst/>
          </a:prstGeom>
        </p:spPr>
      </p:pic>
    </p:spTree>
    <p:extLst>
      <p:ext uri="{BB962C8B-B14F-4D97-AF65-F5344CB8AC3E}">
        <p14:creationId xmlns:p14="http://schemas.microsoft.com/office/powerpoint/2010/main" val="1231128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0"/>
          <p:cNvSpPr txBox="1">
            <a:spLocks noGrp="1"/>
          </p:cNvSpPr>
          <p:nvPr>
            <p:ph type="body" idx="1"/>
          </p:nvPr>
        </p:nvSpPr>
        <p:spPr>
          <a:xfrm>
            <a:off x="838199" y="1184366"/>
            <a:ext cx="9333411" cy="655501"/>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dirty="0">
                <a:solidFill>
                  <a:srgbClr val="336EA8"/>
                </a:solidFill>
              </a:rPr>
              <a:t>Project Team + Roles :</a:t>
            </a:r>
            <a:endParaRPr dirty="0">
              <a:solidFill>
                <a:srgbClr val="336EA8"/>
              </a:solidFill>
            </a:endParaRPr>
          </a:p>
        </p:txBody>
      </p:sp>
      <p:sp>
        <p:nvSpPr>
          <p:cNvPr id="202" name="Google Shape;20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/7/2026</a:t>
            </a:r>
          </a:p>
        </p:txBody>
      </p:sp>
      <p:sp>
        <p:nvSpPr>
          <p:cNvPr id="203" name="Google Shape;203;p10"/>
          <p:cNvSpPr txBox="1">
            <a:spLocks noGrp="1"/>
          </p:cNvSpPr>
          <p:nvPr>
            <p:ph type="ftr" idx="11"/>
          </p:nvPr>
        </p:nvSpPr>
        <p:spPr>
          <a:xfrm>
            <a:off x="3880338" y="7167154"/>
            <a:ext cx="4273062" cy="29609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204" name="Google Shape;20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19</a:t>
            </a:r>
            <a:endParaRPr dirty="0"/>
          </a:p>
        </p:txBody>
      </p:sp>
      <p:sp>
        <p:nvSpPr>
          <p:cNvPr id="208" name="Google Shape;208;p10"/>
          <p:cNvSpPr txBox="1">
            <a:spLocks noGrp="1"/>
          </p:cNvSpPr>
          <p:nvPr>
            <p:ph type="title"/>
          </p:nvPr>
        </p:nvSpPr>
        <p:spPr>
          <a:xfrm flipH="1">
            <a:off x="12644846" y="1968136"/>
            <a:ext cx="278674" cy="61748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a:buNone/>
            </a:pPr>
            <a:endParaRPr sz="1800" dirty="0">
              <a:solidFill>
                <a:schemeClr val="lt1"/>
              </a:solidFill>
            </a:endParaRPr>
          </a:p>
        </p:txBody>
      </p:sp>
      <p:pic>
        <p:nvPicPr>
          <p:cNvPr id="2" name="Google Shape;110;p1">
            <a:extLst>
              <a:ext uri="{FF2B5EF4-FFF2-40B4-BE49-F238E27FC236}">
                <a16:creationId xmlns:a16="http://schemas.microsoft.com/office/drawing/2014/main" id="{E559F335-69B1-7484-EFC6-3ED9C8D58DA7}"/>
              </a:ext>
            </a:extLst>
          </p:cNvPr>
          <p:cNvPicPr preferRelativeResize="0"/>
          <p:nvPr/>
        </p:nvPicPr>
        <p:blipFill>
          <a:blip r:embed="rId3"/>
          <a:srcRect/>
          <a:stretch/>
        </p:blipFill>
        <p:spPr>
          <a:xfrm>
            <a:off x="9010943" y="6291124"/>
            <a:ext cx="1362250" cy="365125"/>
          </a:xfrm>
          <a:prstGeom prst="rect">
            <a:avLst/>
          </a:prstGeom>
          <a:noFill/>
          <a:ln>
            <a:noFill/>
          </a:ln>
        </p:spPr>
      </p:pic>
      <p:sp>
        <p:nvSpPr>
          <p:cNvPr id="3" name="Shape 16">
            <a:extLst>
              <a:ext uri="{FF2B5EF4-FFF2-40B4-BE49-F238E27FC236}">
                <a16:creationId xmlns:a16="http://schemas.microsoft.com/office/drawing/2014/main" id="{60CA9D9D-64DB-A605-6116-F43297D4A9C9}"/>
              </a:ext>
            </a:extLst>
          </p:cNvPr>
          <p:cNvSpPr/>
          <p:nvPr/>
        </p:nvSpPr>
        <p:spPr>
          <a:xfrm>
            <a:off x="1887583" y="2166273"/>
            <a:ext cx="3015342" cy="1702844"/>
          </a:xfrm>
          <a:prstGeom prst="rect">
            <a:avLst/>
          </a:prstGeom>
          <a:solidFill>
            <a:srgbClr val="F5F5F5"/>
          </a:solidFill>
          <a:ln w="12700">
            <a:solidFill>
              <a:srgbClr val="DDDDDD"/>
            </a:solidFill>
            <a:prstDash val="solid"/>
          </a:ln>
        </p:spPr>
        <p:txBody>
          <a:bodyPr/>
          <a:lstStyle/>
          <a:p>
            <a:pPr>
              <a:buClrTx/>
              <a:buFontTx/>
              <a:buNone/>
            </a:pPr>
            <a:endParaRPr lang="en-US" sz="1800" kern="1200">
              <a:solidFill>
                <a:prstClr val="black"/>
              </a:solidFill>
              <a:latin typeface="Calibri" panose="020F0502020204030204"/>
              <a:ea typeface="+mn-ea"/>
              <a:cs typeface="+mn-cs"/>
            </a:endParaRPr>
          </a:p>
        </p:txBody>
      </p:sp>
      <p:pic>
        <p:nvPicPr>
          <p:cNvPr id="4" name="Picture 3">
            <a:extLst>
              <a:ext uri="{FF2B5EF4-FFF2-40B4-BE49-F238E27FC236}">
                <a16:creationId xmlns:a16="http://schemas.microsoft.com/office/drawing/2014/main" id="{D3E0C973-222C-0E5C-DD55-C4C863C50B13}"/>
              </a:ext>
            </a:extLst>
          </p:cNvPr>
          <p:cNvPicPr>
            <a:picLocks noChangeAspect="1"/>
          </p:cNvPicPr>
          <p:nvPr/>
        </p:nvPicPr>
        <p:blipFill>
          <a:blip r:embed="rId4"/>
          <a:stretch>
            <a:fillRect/>
          </a:stretch>
        </p:blipFill>
        <p:spPr>
          <a:xfrm>
            <a:off x="1879045" y="1786855"/>
            <a:ext cx="3015342" cy="396274"/>
          </a:xfrm>
          <a:prstGeom prst="rect">
            <a:avLst/>
          </a:prstGeom>
        </p:spPr>
      </p:pic>
      <p:pic>
        <p:nvPicPr>
          <p:cNvPr id="5" name="Picture 4">
            <a:extLst>
              <a:ext uri="{FF2B5EF4-FFF2-40B4-BE49-F238E27FC236}">
                <a16:creationId xmlns:a16="http://schemas.microsoft.com/office/drawing/2014/main" id="{1604E4AC-FFF1-5966-1DBB-FA93EA0C2BE9}"/>
              </a:ext>
            </a:extLst>
          </p:cNvPr>
          <p:cNvPicPr>
            <a:picLocks noChangeAspect="1"/>
          </p:cNvPicPr>
          <p:nvPr/>
        </p:nvPicPr>
        <p:blipFill>
          <a:blip r:embed="rId4"/>
          <a:stretch>
            <a:fillRect/>
          </a:stretch>
        </p:blipFill>
        <p:spPr>
          <a:xfrm>
            <a:off x="6029597" y="1775473"/>
            <a:ext cx="3015340" cy="396274"/>
          </a:xfrm>
          <a:prstGeom prst="rect">
            <a:avLst/>
          </a:prstGeom>
        </p:spPr>
      </p:pic>
      <p:pic>
        <p:nvPicPr>
          <p:cNvPr id="6" name="Picture 5">
            <a:extLst>
              <a:ext uri="{FF2B5EF4-FFF2-40B4-BE49-F238E27FC236}">
                <a16:creationId xmlns:a16="http://schemas.microsoft.com/office/drawing/2014/main" id="{02A9ABAB-7CC5-EC9D-5F1A-7952A63D8F76}"/>
              </a:ext>
            </a:extLst>
          </p:cNvPr>
          <p:cNvPicPr>
            <a:picLocks noChangeAspect="1"/>
          </p:cNvPicPr>
          <p:nvPr/>
        </p:nvPicPr>
        <p:blipFill>
          <a:blip r:embed="rId4"/>
          <a:stretch>
            <a:fillRect/>
          </a:stretch>
        </p:blipFill>
        <p:spPr>
          <a:xfrm>
            <a:off x="1887583" y="4141094"/>
            <a:ext cx="3015341" cy="396274"/>
          </a:xfrm>
          <a:prstGeom prst="rect">
            <a:avLst/>
          </a:prstGeom>
        </p:spPr>
      </p:pic>
      <p:pic>
        <p:nvPicPr>
          <p:cNvPr id="7" name="Picture 6">
            <a:extLst>
              <a:ext uri="{FF2B5EF4-FFF2-40B4-BE49-F238E27FC236}">
                <a16:creationId xmlns:a16="http://schemas.microsoft.com/office/drawing/2014/main" id="{04A6487D-3646-9ED0-5820-B862806441A9}"/>
              </a:ext>
            </a:extLst>
          </p:cNvPr>
          <p:cNvPicPr>
            <a:picLocks noChangeAspect="1"/>
          </p:cNvPicPr>
          <p:nvPr/>
        </p:nvPicPr>
        <p:blipFill>
          <a:blip r:embed="rId5"/>
          <a:stretch>
            <a:fillRect/>
          </a:stretch>
        </p:blipFill>
        <p:spPr>
          <a:xfrm>
            <a:off x="6033252" y="4139433"/>
            <a:ext cx="3011685" cy="396274"/>
          </a:xfrm>
          <a:prstGeom prst="rect">
            <a:avLst/>
          </a:prstGeom>
        </p:spPr>
      </p:pic>
      <p:pic>
        <p:nvPicPr>
          <p:cNvPr id="8" name="Picture 7">
            <a:extLst>
              <a:ext uri="{FF2B5EF4-FFF2-40B4-BE49-F238E27FC236}">
                <a16:creationId xmlns:a16="http://schemas.microsoft.com/office/drawing/2014/main" id="{0B9C54FC-7DC5-59C0-F3DF-D2C74EF0B5B3}"/>
              </a:ext>
            </a:extLst>
          </p:cNvPr>
          <p:cNvPicPr>
            <a:picLocks noChangeAspect="1"/>
          </p:cNvPicPr>
          <p:nvPr/>
        </p:nvPicPr>
        <p:blipFill>
          <a:blip r:embed="rId6"/>
          <a:stretch>
            <a:fillRect/>
          </a:stretch>
        </p:blipFill>
        <p:spPr>
          <a:xfrm>
            <a:off x="6029597" y="2158084"/>
            <a:ext cx="3023878" cy="1719221"/>
          </a:xfrm>
          <a:prstGeom prst="rect">
            <a:avLst/>
          </a:prstGeom>
        </p:spPr>
      </p:pic>
      <p:pic>
        <p:nvPicPr>
          <p:cNvPr id="9" name="Picture 8">
            <a:extLst>
              <a:ext uri="{FF2B5EF4-FFF2-40B4-BE49-F238E27FC236}">
                <a16:creationId xmlns:a16="http://schemas.microsoft.com/office/drawing/2014/main" id="{F5B6B3D7-3AFF-EE7D-4B8B-76E62F39D047}"/>
              </a:ext>
            </a:extLst>
          </p:cNvPr>
          <p:cNvPicPr>
            <a:picLocks noChangeAspect="1"/>
          </p:cNvPicPr>
          <p:nvPr/>
        </p:nvPicPr>
        <p:blipFill>
          <a:blip r:embed="rId6"/>
          <a:stretch>
            <a:fillRect/>
          </a:stretch>
        </p:blipFill>
        <p:spPr>
          <a:xfrm>
            <a:off x="1887583" y="4535707"/>
            <a:ext cx="3023878" cy="1719221"/>
          </a:xfrm>
          <a:prstGeom prst="rect">
            <a:avLst/>
          </a:prstGeom>
        </p:spPr>
      </p:pic>
      <p:pic>
        <p:nvPicPr>
          <p:cNvPr id="10" name="Picture 9">
            <a:extLst>
              <a:ext uri="{FF2B5EF4-FFF2-40B4-BE49-F238E27FC236}">
                <a16:creationId xmlns:a16="http://schemas.microsoft.com/office/drawing/2014/main" id="{22447E7D-EC9C-CE10-F376-E9E4813508DE}"/>
              </a:ext>
            </a:extLst>
          </p:cNvPr>
          <p:cNvPicPr>
            <a:picLocks noChangeAspect="1"/>
          </p:cNvPicPr>
          <p:nvPr/>
        </p:nvPicPr>
        <p:blipFill>
          <a:blip r:embed="rId6"/>
          <a:stretch>
            <a:fillRect/>
          </a:stretch>
        </p:blipFill>
        <p:spPr>
          <a:xfrm>
            <a:off x="6041789" y="4535706"/>
            <a:ext cx="3023878" cy="1719221"/>
          </a:xfrm>
          <a:prstGeom prst="rect">
            <a:avLst/>
          </a:prstGeom>
        </p:spPr>
      </p:pic>
      <p:sp>
        <p:nvSpPr>
          <p:cNvPr id="11" name="TextBox 10">
            <a:extLst>
              <a:ext uri="{FF2B5EF4-FFF2-40B4-BE49-F238E27FC236}">
                <a16:creationId xmlns:a16="http://schemas.microsoft.com/office/drawing/2014/main" id="{8F47A6BD-D96D-E2A2-A78C-9EC72DEB3D9F}"/>
              </a:ext>
            </a:extLst>
          </p:cNvPr>
          <p:cNvSpPr txBox="1"/>
          <p:nvPr/>
        </p:nvSpPr>
        <p:spPr>
          <a:xfrm>
            <a:off x="2383426" y="1801654"/>
            <a:ext cx="2638698" cy="338554"/>
          </a:xfrm>
          <a:prstGeom prst="rect">
            <a:avLst/>
          </a:prstGeom>
          <a:noFill/>
        </p:spPr>
        <p:txBody>
          <a:bodyPr wrap="square" rtlCol="0">
            <a:spAutoFit/>
          </a:bodyPr>
          <a:lstStyle/>
          <a:p>
            <a:r>
              <a:rPr lang="en-US" sz="1600" dirty="0">
                <a:solidFill>
                  <a:schemeClr val="bg1"/>
                </a:solidFill>
              </a:rPr>
              <a:t>Yasmin Abdelhamid</a:t>
            </a:r>
          </a:p>
        </p:txBody>
      </p:sp>
      <p:sp>
        <p:nvSpPr>
          <p:cNvPr id="12" name="TextBox 11">
            <a:extLst>
              <a:ext uri="{FF2B5EF4-FFF2-40B4-BE49-F238E27FC236}">
                <a16:creationId xmlns:a16="http://schemas.microsoft.com/office/drawing/2014/main" id="{C421E662-1F99-FEAB-CD17-741FFB15D338}"/>
              </a:ext>
            </a:extLst>
          </p:cNvPr>
          <p:cNvSpPr txBox="1"/>
          <p:nvPr/>
        </p:nvSpPr>
        <p:spPr>
          <a:xfrm>
            <a:off x="6653348" y="1801654"/>
            <a:ext cx="2098766" cy="338554"/>
          </a:xfrm>
          <a:prstGeom prst="rect">
            <a:avLst/>
          </a:prstGeom>
          <a:noFill/>
        </p:spPr>
        <p:txBody>
          <a:bodyPr wrap="square" rtlCol="0">
            <a:spAutoFit/>
          </a:bodyPr>
          <a:lstStyle/>
          <a:p>
            <a:r>
              <a:rPr lang="en-US" sz="1600" dirty="0">
                <a:solidFill>
                  <a:schemeClr val="bg1"/>
                </a:solidFill>
              </a:rPr>
              <a:t>Sama Mohamed</a:t>
            </a:r>
          </a:p>
        </p:txBody>
      </p:sp>
      <p:sp>
        <p:nvSpPr>
          <p:cNvPr id="13" name="TextBox 12">
            <a:extLst>
              <a:ext uri="{FF2B5EF4-FFF2-40B4-BE49-F238E27FC236}">
                <a16:creationId xmlns:a16="http://schemas.microsoft.com/office/drawing/2014/main" id="{30E11FD4-4264-9A71-A5B3-DEEE0BABC87D}"/>
              </a:ext>
            </a:extLst>
          </p:cNvPr>
          <p:cNvSpPr txBox="1"/>
          <p:nvPr/>
        </p:nvSpPr>
        <p:spPr>
          <a:xfrm>
            <a:off x="2588622" y="4155953"/>
            <a:ext cx="1985555" cy="338554"/>
          </a:xfrm>
          <a:prstGeom prst="rect">
            <a:avLst/>
          </a:prstGeom>
          <a:noFill/>
        </p:spPr>
        <p:txBody>
          <a:bodyPr wrap="square" rtlCol="0">
            <a:spAutoFit/>
          </a:bodyPr>
          <a:lstStyle/>
          <a:p>
            <a:r>
              <a:rPr lang="en-US" sz="1600" dirty="0">
                <a:solidFill>
                  <a:schemeClr val="bg1"/>
                </a:solidFill>
              </a:rPr>
              <a:t>Rewaa Mostafa</a:t>
            </a:r>
          </a:p>
        </p:txBody>
      </p:sp>
      <p:sp>
        <p:nvSpPr>
          <p:cNvPr id="14" name="TextBox 13">
            <a:extLst>
              <a:ext uri="{FF2B5EF4-FFF2-40B4-BE49-F238E27FC236}">
                <a16:creationId xmlns:a16="http://schemas.microsoft.com/office/drawing/2014/main" id="{0E53D2B1-D4AB-EDA2-C1A7-2135A417756D}"/>
              </a:ext>
            </a:extLst>
          </p:cNvPr>
          <p:cNvSpPr txBox="1"/>
          <p:nvPr/>
        </p:nvSpPr>
        <p:spPr>
          <a:xfrm>
            <a:off x="6827519" y="4164141"/>
            <a:ext cx="1924595" cy="338554"/>
          </a:xfrm>
          <a:prstGeom prst="rect">
            <a:avLst/>
          </a:prstGeom>
          <a:noFill/>
        </p:spPr>
        <p:txBody>
          <a:bodyPr wrap="square" rtlCol="0">
            <a:spAutoFit/>
          </a:bodyPr>
          <a:lstStyle/>
          <a:p>
            <a:r>
              <a:rPr lang="en-US" sz="1600" dirty="0">
                <a:solidFill>
                  <a:schemeClr val="bg1"/>
                </a:solidFill>
              </a:rPr>
              <a:t>Samira Samir</a:t>
            </a:r>
          </a:p>
        </p:txBody>
      </p:sp>
      <p:sp>
        <p:nvSpPr>
          <p:cNvPr id="15" name="TextBox 14">
            <a:extLst>
              <a:ext uri="{FF2B5EF4-FFF2-40B4-BE49-F238E27FC236}">
                <a16:creationId xmlns:a16="http://schemas.microsoft.com/office/drawing/2014/main" id="{7E795D21-783D-B0E6-467B-8BF442A785D5}"/>
              </a:ext>
            </a:extLst>
          </p:cNvPr>
          <p:cNvSpPr txBox="1"/>
          <p:nvPr/>
        </p:nvSpPr>
        <p:spPr>
          <a:xfrm>
            <a:off x="1887583" y="2190954"/>
            <a:ext cx="3006804" cy="1169551"/>
          </a:xfrm>
          <a:prstGeom prst="rect">
            <a:avLst/>
          </a:prstGeom>
          <a:noFill/>
        </p:spPr>
        <p:txBody>
          <a:bodyPr wrap="square" rtlCol="0">
            <a:spAutoFit/>
          </a:bodyPr>
          <a:lstStyle/>
          <a:p>
            <a:r>
              <a:rPr lang="en-US" dirty="0">
                <a:solidFill>
                  <a:schemeClr val="tx1"/>
                </a:solidFill>
              </a:rPr>
              <a:t>-Team Leader</a:t>
            </a:r>
          </a:p>
          <a:p>
            <a:r>
              <a:rPr lang="en-US" dirty="0">
                <a:solidFill>
                  <a:schemeClr val="tx1"/>
                </a:solidFill>
              </a:rPr>
              <a:t>-Medalion Architecture</a:t>
            </a:r>
          </a:p>
          <a:p>
            <a:r>
              <a:rPr lang="en-US" dirty="0">
                <a:solidFill>
                  <a:schemeClr val="tx1"/>
                </a:solidFill>
              </a:rPr>
              <a:t>-Machine Learning</a:t>
            </a:r>
          </a:p>
          <a:p>
            <a:r>
              <a:rPr lang="en-US" dirty="0">
                <a:solidFill>
                  <a:schemeClr val="tx1"/>
                </a:solidFill>
              </a:rPr>
              <a:t>-Microsoft Fabric</a:t>
            </a:r>
          </a:p>
          <a:p>
            <a:pPr marL="285750" indent="-285750">
              <a:buFontTx/>
              <a:buChar char="-"/>
            </a:pPr>
            <a:endParaRPr lang="en-US" dirty="0">
              <a:solidFill>
                <a:schemeClr val="tx1"/>
              </a:solidFill>
            </a:endParaRPr>
          </a:p>
        </p:txBody>
      </p:sp>
      <p:sp>
        <p:nvSpPr>
          <p:cNvPr id="16" name="TextBox 15">
            <a:extLst>
              <a:ext uri="{FF2B5EF4-FFF2-40B4-BE49-F238E27FC236}">
                <a16:creationId xmlns:a16="http://schemas.microsoft.com/office/drawing/2014/main" id="{EEAA3B6E-6FF6-6CC6-16FB-FC4ED0BBFAFC}"/>
              </a:ext>
            </a:extLst>
          </p:cNvPr>
          <p:cNvSpPr txBox="1"/>
          <p:nvPr/>
        </p:nvSpPr>
        <p:spPr>
          <a:xfrm>
            <a:off x="6038135" y="2161988"/>
            <a:ext cx="3006804" cy="1169551"/>
          </a:xfrm>
          <a:prstGeom prst="rect">
            <a:avLst/>
          </a:prstGeom>
          <a:noFill/>
        </p:spPr>
        <p:txBody>
          <a:bodyPr wrap="square" rtlCol="0">
            <a:spAutoFit/>
          </a:bodyPr>
          <a:lstStyle/>
          <a:p>
            <a:r>
              <a:rPr lang="en-US" dirty="0">
                <a:solidFill>
                  <a:schemeClr val="tx1"/>
                </a:solidFill>
              </a:rPr>
              <a:t>-Medalion Architecture</a:t>
            </a:r>
          </a:p>
          <a:p>
            <a:r>
              <a:rPr lang="en-US" dirty="0">
                <a:solidFill>
                  <a:schemeClr val="tx1"/>
                </a:solidFill>
              </a:rPr>
              <a:t>-Exploratory Data Analysis</a:t>
            </a:r>
          </a:p>
          <a:p>
            <a:r>
              <a:rPr lang="en-US" dirty="0">
                <a:solidFill>
                  <a:schemeClr val="tx1"/>
                </a:solidFill>
              </a:rPr>
              <a:t>-Documentation</a:t>
            </a:r>
          </a:p>
          <a:p>
            <a:pPr marL="285750" indent="-285750">
              <a:buFontTx/>
              <a:buChar char="-"/>
            </a:pPr>
            <a:endParaRPr lang="en-US" dirty="0">
              <a:solidFill>
                <a:schemeClr val="tx1"/>
              </a:solidFill>
            </a:endParaRPr>
          </a:p>
          <a:p>
            <a:pPr marL="285750" indent="-285750">
              <a:buFontTx/>
              <a:buChar char="-"/>
            </a:pPr>
            <a:endParaRPr lang="en-US" dirty="0">
              <a:solidFill>
                <a:schemeClr val="tx1"/>
              </a:solidFill>
            </a:endParaRPr>
          </a:p>
        </p:txBody>
      </p:sp>
      <p:sp>
        <p:nvSpPr>
          <p:cNvPr id="17" name="TextBox 16">
            <a:extLst>
              <a:ext uri="{FF2B5EF4-FFF2-40B4-BE49-F238E27FC236}">
                <a16:creationId xmlns:a16="http://schemas.microsoft.com/office/drawing/2014/main" id="{5D64FD55-107F-4A06-7967-F35FF499FE90}"/>
              </a:ext>
            </a:extLst>
          </p:cNvPr>
          <p:cNvSpPr txBox="1"/>
          <p:nvPr/>
        </p:nvSpPr>
        <p:spPr>
          <a:xfrm>
            <a:off x="1879045" y="4548729"/>
            <a:ext cx="3006804" cy="738664"/>
          </a:xfrm>
          <a:prstGeom prst="rect">
            <a:avLst/>
          </a:prstGeom>
          <a:noFill/>
        </p:spPr>
        <p:txBody>
          <a:bodyPr wrap="square" rtlCol="0">
            <a:spAutoFit/>
          </a:bodyPr>
          <a:lstStyle/>
          <a:p>
            <a:r>
              <a:rPr lang="en-US" dirty="0">
                <a:solidFill>
                  <a:schemeClr val="tx1"/>
                </a:solidFill>
              </a:rPr>
              <a:t>-Power BI Dashboard Development</a:t>
            </a:r>
          </a:p>
          <a:p>
            <a:r>
              <a:rPr lang="en-US" dirty="0">
                <a:solidFill>
                  <a:schemeClr val="tx1"/>
                </a:solidFill>
              </a:rPr>
              <a:t>-Presentation Design</a:t>
            </a:r>
          </a:p>
          <a:p>
            <a:pPr marL="285750" indent="-285750">
              <a:buFontTx/>
              <a:buChar char="-"/>
            </a:pPr>
            <a:endParaRPr lang="en-US" dirty="0">
              <a:solidFill>
                <a:schemeClr val="tx1"/>
              </a:solidFill>
            </a:endParaRPr>
          </a:p>
        </p:txBody>
      </p:sp>
      <p:sp>
        <p:nvSpPr>
          <p:cNvPr id="18" name="TextBox 17">
            <a:extLst>
              <a:ext uri="{FF2B5EF4-FFF2-40B4-BE49-F238E27FC236}">
                <a16:creationId xmlns:a16="http://schemas.microsoft.com/office/drawing/2014/main" id="{DEF60DC0-86A6-EACA-A04B-AFCB7085C25A}"/>
              </a:ext>
            </a:extLst>
          </p:cNvPr>
          <p:cNvSpPr txBox="1"/>
          <p:nvPr/>
        </p:nvSpPr>
        <p:spPr>
          <a:xfrm>
            <a:off x="6038133" y="4535705"/>
            <a:ext cx="3006804" cy="523220"/>
          </a:xfrm>
          <a:prstGeom prst="rect">
            <a:avLst/>
          </a:prstGeom>
          <a:noFill/>
        </p:spPr>
        <p:txBody>
          <a:bodyPr wrap="square" rtlCol="0">
            <a:spAutoFit/>
          </a:bodyPr>
          <a:lstStyle/>
          <a:p>
            <a:r>
              <a:rPr lang="en-US" dirty="0">
                <a:solidFill>
                  <a:schemeClr val="tx1"/>
                </a:solidFill>
              </a:rPr>
              <a:t>-Figma Design</a:t>
            </a:r>
          </a:p>
          <a:p>
            <a:r>
              <a:rPr lang="en-US" dirty="0">
                <a:solidFill>
                  <a:schemeClr val="tx1"/>
                </a:solidFill>
              </a:rPr>
              <a:t>-Documentation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C9BC3820-3D2B-394F-E4CA-2AD90B60DB3F}"/>
            </a:ext>
          </a:extLst>
        </p:cNvPr>
        <p:cNvGrpSpPr/>
        <p:nvPr/>
      </p:nvGrpSpPr>
      <p:grpSpPr>
        <a:xfrm>
          <a:off x="0" y="0"/>
          <a:ext cx="0" cy="0"/>
          <a:chOff x="0" y="0"/>
          <a:chExt cx="0" cy="0"/>
        </a:xfrm>
      </p:grpSpPr>
      <p:sp>
        <p:nvSpPr>
          <p:cNvPr id="160" name="Google Shape;160;p6">
            <a:extLst>
              <a:ext uri="{FF2B5EF4-FFF2-40B4-BE49-F238E27FC236}">
                <a16:creationId xmlns:a16="http://schemas.microsoft.com/office/drawing/2014/main" id="{9E0D320E-C92C-257A-F562-49C387B79192}"/>
              </a:ext>
            </a:extLst>
          </p:cNvPr>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dirty="0">
                <a:solidFill>
                  <a:srgbClr val="D7B119"/>
                </a:solidFill>
              </a:rPr>
              <a:t>Thank You !</a:t>
            </a:r>
            <a:endParaRPr dirty="0">
              <a:solidFill>
                <a:srgbClr val="D7B119"/>
              </a:solidFill>
            </a:endParaRPr>
          </a:p>
        </p:txBody>
      </p:sp>
      <p:sp>
        <p:nvSpPr>
          <p:cNvPr id="161" name="Google Shape;161;p6">
            <a:extLst>
              <a:ext uri="{FF2B5EF4-FFF2-40B4-BE49-F238E27FC236}">
                <a16:creationId xmlns:a16="http://schemas.microsoft.com/office/drawing/2014/main" id="{FAF85BA9-9416-3029-951A-6BAA694BF891}"/>
              </a:ext>
            </a:extLst>
          </p:cNvPr>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solidFill>
                  <a:srgbClr val="336EA8"/>
                </a:solidFill>
              </a:rPr>
              <a:t>Questions and Feedback are welcome</a:t>
            </a:r>
          </a:p>
        </p:txBody>
      </p:sp>
      <p:sp>
        <p:nvSpPr>
          <p:cNvPr id="162" name="Google Shape;162;p6">
            <a:extLst>
              <a:ext uri="{FF2B5EF4-FFF2-40B4-BE49-F238E27FC236}">
                <a16:creationId xmlns:a16="http://schemas.microsoft.com/office/drawing/2014/main" id="{5FDA9FA9-757A-647F-9734-7DB93E5544D5}"/>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t>/7/2026</a:t>
            </a:r>
            <a:endParaRPr lang="en-US" dirty="0"/>
          </a:p>
        </p:txBody>
      </p:sp>
      <p:sp>
        <p:nvSpPr>
          <p:cNvPr id="163" name="Google Shape;163;p6">
            <a:extLst>
              <a:ext uri="{FF2B5EF4-FFF2-40B4-BE49-F238E27FC236}">
                <a16:creationId xmlns:a16="http://schemas.microsoft.com/office/drawing/2014/main" id="{89A70B53-FD23-2553-9E6B-1452A81656B2}"/>
              </a:ext>
            </a:extLst>
          </p:cNvPr>
          <p:cNvSpPr txBox="1">
            <a:spLocks noGrp="1"/>
          </p:cNvSpPr>
          <p:nvPr>
            <p:ph type="ftr" idx="11"/>
          </p:nvPr>
        </p:nvSpPr>
        <p:spPr>
          <a:xfrm flipV="1">
            <a:off x="4014651" y="7262948"/>
            <a:ext cx="348343" cy="51380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dirty="0"/>
          </a:p>
        </p:txBody>
      </p:sp>
      <p:sp>
        <p:nvSpPr>
          <p:cNvPr id="164" name="Google Shape;164;p6">
            <a:extLst>
              <a:ext uri="{FF2B5EF4-FFF2-40B4-BE49-F238E27FC236}">
                <a16:creationId xmlns:a16="http://schemas.microsoft.com/office/drawing/2014/main" id="{C9AEC65A-D935-CF66-2EB3-CA7462E9B02D}"/>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US" dirty="0"/>
              <a:t>20</a:t>
            </a:r>
            <a:endParaRPr dirty="0"/>
          </a:p>
        </p:txBody>
      </p:sp>
      <p:pic>
        <p:nvPicPr>
          <p:cNvPr id="2" name="Google Shape;110;p1">
            <a:extLst>
              <a:ext uri="{FF2B5EF4-FFF2-40B4-BE49-F238E27FC236}">
                <a16:creationId xmlns:a16="http://schemas.microsoft.com/office/drawing/2014/main" id="{4C7CF0CA-A89E-EB8F-15A6-AFC18E207275}"/>
              </a:ext>
            </a:extLst>
          </p:cNvPr>
          <p:cNvPicPr preferRelativeResize="0"/>
          <p:nvPr/>
        </p:nvPicPr>
        <p:blipFill>
          <a:blip r:embed="rId3"/>
          <a:srcRect/>
          <a:stretch/>
        </p:blipFill>
        <p:spPr>
          <a:xfrm>
            <a:off x="9010943" y="6291124"/>
            <a:ext cx="1362250" cy="365125"/>
          </a:xfrm>
          <a:prstGeom prst="rect">
            <a:avLst/>
          </a:prstGeom>
          <a:noFill/>
          <a:ln>
            <a:noFill/>
          </a:ln>
        </p:spPr>
      </p:pic>
    </p:spTree>
    <p:extLst>
      <p:ext uri="{BB962C8B-B14F-4D97-AF65-F5344CB8AC3E}">
        <p14:creationId xmlns:p14="http://schemas.microsoft.com/office/powerpoint/2010/main" val="342611127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TotalTime>
  <Words>1150</Words>
  <Application>Microsoft Office PowerPoint</Application>
  <PresentationFormat>Widescreen</PresentationFormat>
  <Paragraphs>219</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Arial</vt:lpstr>
      <vt:lpstr>Wingdings</vt:lpstr>
      <vt:lpstr>Office Theme</vt:lpstr>
      <vt:lpstr>Bitcoin Market Analysis</vt:lpstr>
      <vt:lpstr>   Problem ●Bitcoin generates massive trading data every minute. ●Raw market data is difficult to analyze manually. ●Investors need clear insights to understand market behavior. ●Predicting future price movement remains a challenging task.    Solution ●Build a complete Data Engineering pipeline. ●Apply Medallion Architecture (Bronze, Silver, Gold). ●Create a Data Warehouse using Star Schema. ●Develop interactive Power BI dashboards. ●Build a Machine Learning model to predict future market direction.    Unique Value ●End-to-end analytical pipeline. ●Engineered financial indicators. ●Interactive dashboards. ●Machine Learning prediction. ●Decision support for Bitcoin market analysis.   </vt:lpstr>
      <vt:lpstr>Dashboard Overview Project Wireframe — Power BI Dashboard 01 Market Overview High-level Bitcoin market summary ●Price Overview ●Volume Spikes ●Volatility Range ●Capital Flow 02 Buyer VS Seller Pressure ●Buy VS Sell pressure ●Net Order Flow ●Overheating Watch 03 Liquidity , Support &amp; Resistance  ●Price Rejection ●Support Strength ●Consolidation Range   </vt:lpstr>
      <vt:lpstr>Cont. Dashboard Overview Project Wireframe — Power BI Dashboard 04 Trend and Breakout Tracking ●Trend Strength VS Volume ●Trend Persistence  ●Breakout &amp; Compression Watch ●Breakout Status 05 Trader Activity &amp; Whale Watch ●Trade Participation ●Whale Watch ●Trade Intensity ●Volatility Clusters 06 The Forecast ●Predictions By Timeframe ●Confusion Matrix ●Confidence Score ●Feature Importance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SAMA</dc:creator>
  <cp:lastModifiedBy>Rewaa Mostafa</cp:lastModifiedBy>
  <cp:revision>7</cp:revision>
  <dcterms:created xsi:type="dcterms:W3CDTF">2024-03-14T10:03:54Z</dcterms:created>
  <dcterms:modified xsi:type="dcterms:W3CDTF">2026-07-08T21:29:50Z</dcterms:modified>
</cp:coreProperties>
</file>